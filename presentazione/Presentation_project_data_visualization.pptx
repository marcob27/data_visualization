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4.gif" ContentType="image/gif"/>
  <Override PartName="/ppt/media/image17.png" ContentType="image/png"/>
  <Override PartName="/ppt/media/image23.png" ContentType="image/png"/>
  <Override PartName="/ppt/media/image11.png" ContentType="image/png"/>
  <Override PartName="/ppt/media/image22.gif" ContentType="image/gif"/>
  <Override PartName="/ppt/media/image21.gif" ContentType="image/gif"/>
  <Override PartName="/ppt/media/image19.png" ContentType="image/png"/>
  <Override PartName="/ppt/media/image2.svg" ContentType="image/sv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808560" y="2019240"/>
            <a:ext cx="1035720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2AACDD-3906-40B9-B412-444BF6412C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14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15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32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08560" y="2019240"/>
            <a:ext cx="1035720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4572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7315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00584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11887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A0F37D-416E-484B-A520-432AFD7A09BE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1" name="Group 6"/>
          <p:cNvGrpSpPr/>
          <p:nvPr/>
        </p:nvGrpSpPr>
        <p:grpSpPr>
          <a:xfrm>
            <a:off x="0" y="3551760"/>
            <a:ext cx="567720" cy="3306240"/>
            <a:chOff x="0" y="3551760"/>
            <a:chExt cx="567720" cy="3306240"/>
          </a:xfrm>
        </p:grpSpPr>
        <p:sp>
          <p:nvSpPr>
            <p:cNvPr id="22" name="Freeform: Shape 7"/>
            <p:cNvSpPr/>
            <p:nvPr/>
          </p:nvSpPr>
          <p:spPr>
            <a:xfrm flipV="1" rot="10800000">
              <a:off x="41760" y="355176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360 h 2930400"/>
                <a:gd name="textAreaBottom" fmla="*/ 293112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 rot="10800000">
              <a:off x="-360" y="483696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25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26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853840" y="624240"/>
            <a:ext cx="2537640" cy="550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32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00280" y="624240"/>
            <a:ext cx="7816320" cy="550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4572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7315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00584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11887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7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8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9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A266A5-27B4-4088-9782-08744C28B284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2" name="Group 6"/>
          <p:cNvGrpSpPr/>
          <p:nvPr/>
        </p:nvGrpSpPr>
        <p:grpSpPr>
          <a:xfrm>
            <a:off x="0" y="3551760"/>
            <a:ext cx="567720" cy="3306240"/>
            <a:chOff x="0" y="3551760"/>
            <a:chExt cx="567720" cy="3306240"/>
          </a:xfrm>
        </p:grpSpPr>
        <p:sp>
          <p:nvSpPr>
            <p:cNvPr id="33" name="Freeform: Shape 7"/>
            <p:cNvSpPr/>
            <p:nvPr/>
          </p:nvSpPr>
          <p:spPr>
            <a:xfrm flipV="1" rot="10800000">
              <a:off x="41760" y="355176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360 h 2930400"/>
                <a:gd name="textAreaBottom" fmla="*/ 293112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 rot="10800000">
              <a:off x="-360" y="483696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36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37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32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08560" y="2019240"/>
            <a:ext cx="1035720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4572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7315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00584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11887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10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11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2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B73A91-8EE7-4E2E-8DC4-A38A08A24EAF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36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37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32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08560" y="2019240"/>
            <a:ext cx="1035720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4572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7315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00584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11887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3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14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15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C7AF6-4E31-4432-A97C-F9C9DA0BCF15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50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51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52" name="Oval 7"/>
          <p:cNvSpPr/>
          <p:nvPr/>
        </p:nvSpPr>
        <p:spPr>
          <a:xfrm>
            <a:off x="3242880" y="511920"/>
            <a:ext cx="5705640" cy="57056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algn="tr" dir="2221193" dist="165024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49320" y="1709640"/>
            <a:ext cx="4893120" cy="255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36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062240" y="4540320"/>
            <a:ext cx="4067280" cy="11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pc="601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16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17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&lt;footer&gt;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18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792D0-1696-43CC-B7E6-B7C00AA45DD9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59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60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32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12880" y="2019240"/>
            <a:ext cx="4994640" cy="41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4572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7315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00584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11887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93880" y="2019240"/>
            <a:ext cx="5027760" cy="41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4572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7315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00584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11887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19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0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&lt;footer&gt;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21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28DD98-509D-4C34-8A52-71EE9969761E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68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69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11440" y="369000"/>
            <a:ext cx="10458360" cy="143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32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00280" y="1843200"/>
            <a:ext cx="5007600" cy="66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800280" y="2505240"/>
            <a:ext cx="500760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4572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7315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00584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11887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276240" y="1843200"/>
            <a:ext cx="4993920" cy="66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76240" y="2505240"/>
            <a:ext cx="4993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4572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7315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00584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11887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dt" idx="22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ftr" idx="23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&lt;footer&gt;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8"/>
          <p:cNvSpPr>
            <a:spLocks noGrp="1"/>
          </p:cNvSpPr>
          <p:nvPr>
            <p:ph type="sldNum" idx="24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2F0FA2-6696-47E0-86D9-CEDF1D37B65D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79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80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00280" y="983880"/>
            <a:ext cx="10094400" cy="118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  <a:effectLst>
            <a:outerShdw dist="164953" dir="18900000" blurRad="0" rotWithShape="0">
              <a:srgbClr val="000000"/>
            </a:outerShdw>
          </a:effectLst>
        </p:spPr>
        <p:txBody>
          <a:bodyPr lIns="91440" rIns="91440" tIns="45720" bIns="45720" anchor="b">
            <a:noAutofit/>
          </a:bodyPr>
          <a:p>
            <a:pPr marL="182880" indent="0" defTabSz="914400">
              <a:lnSpc>
                <a:spcPct val="120000"/>
              </a:lnSpc>
              <a:buNone/>
            </a:pPr>
            <a:r>
              <a:rPr b="0" lang="en-US" sz="32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dt" idx="25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ftr" idx="26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&lt;footer&gt;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27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A4AD3C-4BF7-418E-9DF5-308CB2B5411F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86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87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88" name="PlaceHolder 1"/>
          <p:cNvSpPr>
            <a:spLocks noGrp="1"/>
          </p:cNvSpPr>
          <p:nvPr>
            <p:ph type="dt" idx="28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29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&lt;footer&gt;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30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65D056-F970-47C1-9FA8-79CE8151D968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92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93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9880" y="98748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20000"/>
              </a:lnSpc>
              <a:buNone/>
            </a:pPr>
            <a:r>
              <a:rPr b="1" lang="en-US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5310000" y="987480"/>
            <a:ext cx="604512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4572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7315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00584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118872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839880" y="2743200"/>
            <a:ext cx="3931920" cy="312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dt" idx="31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ftr" idx="32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&lt;footer&gt;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sldNum" idx="33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54A4D3-DFEF-4600-AF61-9FE8A10BA400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101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102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9880" y="98748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20000"/>
              </a:lnSpc>
              <a:buNone/>
            </a:pPr>
            <a:r>
              <a:rPr b="1" lang="en-US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5353920" y="987480"/>
            <a:ext cx="569412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3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864000" indent="-324000">
              <a:lnSpc>
                <a:spcPct val="13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1296000" indent="-288000">
              <a:lnSpc>
                <a:spcPct val="13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728000" indent="-216000">
              <a:lnSpc>
                <a:spcPct val="13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2160000" indent="-216000">
              <a:lnSpc>
                <a:spcPct val="13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5" marL="2592000" indent="-216000">
              <a:lnSpc>
                <a:spcPct val="13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6" marL="3024000" indent="-216000">
              <a:lnSpc>
                <a:spcPct val="13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839880" y="2743200"/>
            <a:ext cx="3931920" cy="312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dt" idx="34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ftr" idx="35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&lt;footer&gt;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sldNum" idx="36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338F70-6D81-4F75-A77D-D2A2556E6E47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1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320 w 525960"/>
                <a:gd name="textAreaTop" fmla="*/ 0 h 2930400"/>
                <a:gd name="textAreaBottom" fmla="*/ 293076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100000" sy="100000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2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1986560" y="483660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600200" y="1261800"/>
            <a:ext cx="7637760" cy="285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30000"/>
              </a:lnSpc>
              <a:buNone/>
            </a:pPr>
            <a:r>
              <a:rPr b="0" lang="en-US" sz="3600" spc="1301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0" lang="en-US" sz="1000" spc="51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&lt;footer&gt;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B77C81-DF6C-4FE9-8C0F-8DFB69CB349A}" type="slidenum">
              <a:rPr b="0" lang="en-US" sz="1000" spc="99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567000" cy="3306240"/>
            <a:chOff x="0" y="0"/>
            <a:chExt cx="567000" cy="3306240"/>
          </a:xfrm>
        </p:grpSpPr>
        <p:sp>
          <p:nvSpPr>
            <p:cNvPr id="8" name="Freeform: Shape 7"/>
            <p:cNvSpPr/>
            <p:nvPr/>
          </p:nvSpPr>
          <p:spPr>
            <a:xfrm flipH="1" flipV="1">
              <a:off x="40320" y="375840"/>
              <a:ext cx="525960" cy="2930400"/>
            </a:xfrm>
            <a:custGeom>
              <a:avLst/>
              <a:gdLst>
                <a:gd name="textAreaLeft" fmla="*/ -360 w 525960"/>
                <a:gd name="textAreaRight" fmla="*/ 525960 w 525960"/>
                <a:gd name="textAreaTop" fmla="*/ 360 h 2930400"/>
                <a:gd name="textAreaBottom" fmla="*/ 2931120 h 2930400"/>
              </a:gdLst>
              <a:ahLst/>
              <a:cxn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tile tx="0" ty="0" sx="5989" sy="5989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  <p:sp>
          <p:nvSpPr>
            <p:cNvPr id="9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0" y="0"/>
              <a:ext cx="206280" cy="202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t-IT" sz="1800" strike="noStrike" u="none">
                <a:solidFill>
                  <a:schemeClr val="lt1"/>
                </a:solidFill>
                <a:effectLst/>
                <a:uFillTx/>
                <a:latin typeface="Avenir Next LT Pro"/>
              </a:endParaRPr>
            </a:p>
          </p:txBody>
        </p:sp>
      </p:grp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3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the outline text format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864000" indent="-324000">
              <a:lnSpc>
                <a:spcPct val="13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2" marL="1296000" indent="-288000">
              <a:lnSpc>
                <a:spcPct val="13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3" marL="1728000" indent="-216000">
              <a:lnSpc>
                <a:spcPct val="13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4" marL="2160000" indent="-216000">
              <a:lnSpc>
                <a:spcPct val="13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h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O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u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tli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n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5" marL="2592000" indent="-216000">
              <a:lnSpc>
                <a:spcPct val="13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x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h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O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u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n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6" marL="3024000" indent="-216000">
              <a:lnSpc>
                <a:spcPct val="13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n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h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O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u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n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gif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gif"/><Relationship Id="rId2" Type="http://schemas.openxmlformats.org/officeDocument/2006/relationships/slideLayout" Target="../slideLayouts/slideLayout1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gif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github.com/MarcoB27/data_visualization" TargetMode="External"/><Relationship Id="rId2" Type="http://schemas.openxmlformats.org/officeDocument/2006/relationships/hyperlink" Target="https://github.com/MarcoB27/data_visualization" TargetMode="External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600200" y="1261800"/>
            <a:ext cx="7637760" cy="285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3600" spc="1301" strike="noStrike" u="none" cap="all">
              <a:solidFill>
                <a:schemeClr val="dk1"/>
              </a:solidFill>
              <a:effectLst/>
              <a:uFillTx/>
              <a:latin typeface="Avenir Next LT Pro Light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ubTitle"/>
          </p:nvPr>
        </p:nvSpPr>
        <p:spPr>
          <a:xfrm>
            <a:off x="1600200" y="4681800"/>
            <a:ext cx="7637760" cy="92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1" lang="en-US" sz="1600" spc="601" strike="noStrike" u="none" cap="all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20000"/>
              </a:lnSpc>
              <a:buNone/>
            </a:pPr>
            <a:r>
              <a:rPr b="1" lang="en-US" sz="32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Auto Elettriche ed Ibride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117440" y="1568520"/>
            <a:ext cx="10515240" cy="69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lt2">
                    <a:lumMod val="49000"/>
                  </a:schemeClr>
                </a:solidFill>
                <a:effectLst/>
                <a:uFillTx/>
                <a:latin typeface="Avenir Next LT Pro Light"/>
              </a:rPr>
              <a:t>Analisi del Mercato Italiano ed Europeo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13" name="CasellaDiTesto 4"/>
          <p:cNvSpPr/>
          <p:nvPr/>
        </p:nvSpPr>
        <p:spPr>
          <a:xfrm>
            <a:off x="7582680" y="4370400"/>
            <a:ext cx="371556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Bellante Marco 26103A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Corroppoli Fabio Aurelio 51584A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Vitobello Matteo 32788A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magine 6" descr="Immagine che contiene verde, giardino&#10;&#10;Il contenuto generato dall&amp;#39;IA potrebbe non essere corretto."/>
          <p:cNvPicPr/>
          <p:nvPr/>
        </p:nvPicPr>
        <p:blipFill>
          <a:blip r:embed="rId1"/>
          <a:stretch/>
        </p:blipFill>
        <p:spPr>
          <a:xfrm>
            <a:off x="138240" y="2554200"/>
            <a:ext cx="6238440" cy="362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/>
          </p:nvPr>
        </p:nvSpPr>
        <p:spPr>
          <a:xfrm>
            <a:off x="915840" y="1370520"/>
            <a:ext cx="516816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Attraverso l'uso di visualizzazioni dei dati, come grafici a linee, barre e mappe tematiche, 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abbiamo analizzato i principali sviluppi della diffusione delle auto elettriche in Europa e in 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Italia, evidenziando variazione regionali ed europee nel tempo.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16" name="Picture 5" descr=""/>
          <p:cNvPicPr/>
          <p:nvPr/>
        </p:nvPicPr>
        <p:blipFill>
          <a:blip r:embed="rId1"/>
          <a:stretch/>
        </p:blipFill>
        <p:spPr>
          <a:xfrm>
            <a:off x="8185680" y="2217240"/>
            <a:ext cx="3323880" cy="109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Immagine 7" descr="Motus-E (@AssociazioneMotusE) • Facebook"/>
          <p:cNvPicPr/>
          <p:nvPr/>
        </p:nvPicPr>
        <p:blipFill>
          <a:blip r:embed="rId2"/>
          <a:srcRect l="-588" t="33244" r="874" b="31581"/>
          <a:stretch/>
        </p:blipFill>
        <p:spPr>
          <a:xfrm>
            <a:off x="8185680" y="3594600"/>
            <a:ext cx="3062160" cy="108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Immagine 8" descr="Ficheru:ISTAT - logo (Italy, 2005).svg - Wikipedia"/>
          <p:cNvPicPr/>
          <p:nvPr/>
        </p:nvPicPr>
        <p:blipFill>
          <a:blip r:embed="rId3"/>
          <a:stretch/>
        </p:blipFill>
        <p:spPr>
          <a:xfrm>
            <a:off x="5855760" y="5128200"/>
            <a:ext cx="5392440" cy="1065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1" lang="en-US" sz="32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Situazione Europea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573840" y="2289240"/>
            <a:ext cx="11162880" cy="38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3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21" name="CasellaDiTesto 5"/>
          <p:cNvSpPr/>
          <p:nvPr/>
        </p:nvSpPr>
        <p:spPr>
          <a:xfrm>
            <a:off x="573120" y="2481120"/>
            <a:ext cx="6108120" cy="34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Cosa dice l'UE a riguardo?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Il decreto UE 2019/631 emesso nel 2019 ha posto degli obiettivi: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2025: -15% emissioni CO2 rispetto al 2021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2030: -55% emissioni CO2 rispetto al 2021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2035: -100% emissioni CO2 (solo zero-emissioni)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Cosa è cambiato dal 2019 ad ora?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Nel 2025, la Commissione UE ha introdotto flessibilità: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Media triennale 2025-2027 per target CO2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Revisione anticipata del target 2035 da 2026 a fine 2025, su pressione dei produttori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magine 6" descr="Immagine che contiene veicolo, Veicolo terrestre, ruota, giocattolo&#10;&#10;Il contenuto generato dall&amp;#39;IA potrebbe non essere corretto."/>
          <p:cNvPicPr/>
          <p:nvPr/>
        </p:nvPicPr>
        <p:blipFill>
          <a:blip r:embed="rId1"/>
          <a:stretch/>
        </p:blipFill>
        <p:spPr>
          <a:xfrm>
            <a:off x="6681240" y="1822320"/>
            <a:ext cx="4762080" cy="476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78880" y="-228600"/>
            <a:ext cx="11079720" cy="182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en-US" sz="29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Nuove Immatricolazioni per </a:t>
            </a:r>
            <a:r>
              <a:rPr b="1" lang="en-US" sz="29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tipo di Motorizzazione </a:t>
            </a:r>
            <a:r>
              <a:rPr b="1" lang="en-US" sz="29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(2025)</a:t>
            </a:r>
            <a:endParaRPr b="0" lang="en-US" sz="29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24" name="Picture 2" descr="A diagram of a pie chart&#10;&#10;AI-generated content may be incorrect."/>
          <p:cNvPicPr/>
          <p:nvPr/>
        </p:nvPicPr>
        <p:blipFill>
          <a:blip r:embed="rId1"/>
          <a:srcRect l="0" t="16100" r="-142" b="0"/>
          <a:stretch/>
        </p:blipFill>
        <p:spPr>
          <a:xfrm>
            <a:off x="1652760" y="1661040"/>
            <a:ext cx="8876880" cy="48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CasellaDiTesto 6"/>
          <p:cNvSpPr/>
          <p:nvPr/>
        </p:nvSpPr>
        <p:spPr>
          <a:xfrm>
            <a:off x="577080" y="1288080"/>
            <a:ext cx="345492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normAutofit/>
          </a:bodyPr>
          <a:p>
            <a:pPr defTabSz="914400">
              <a:lnSpc>
                <a:spcPct val="110000"/>
              </a:lnSpc>
              <a:spcBef>
                <a:spcPts val="1001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Confronto tra Paesi Europei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740960" cy="70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it-IT" sz="29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Immatricolazioni 2015-2024</a:t>
            </a:r>
            <a:endParaRPr b="0" lang="en-US" sz="29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9142560" y="1950840"/>
            <a:ext cx="2387160" cy="438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Trend per le immatricolazioni di mezzi Diesel e Petrol.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Calo seguito da ripresa.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28" name="Picture 2" descr="A graph of different colored lines&#10;&#10;AI-generated content may be incorrect."/>
          <p:cNvPicPr/>
          <p:nvPr/>
        </p:nvPicPr>
        <p:blipFill>
          <a:blip r:embed="rId1"/>
          <a:stretch/>
        </p:blipFill>
        <p:spPr>
          <a:xfrm>
            <a:off x="329400" y="1410840"/>
            <a:ext cx="8567280" cy="493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740960" cy="72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it-IT" sz="29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Immatricolazioni 2015-2024</a:t>
            </a:r>
            <a:endParaRPr b="0" lang="en-US" sz="29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9224640" y="2275560"/>
            <a:ext cx="2401200" cy="40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Trend per le immatricolazioni mezzi Plug-In e Hybrid (PHEV).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Continuo aumento.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31" name="Picture 2" descr=""/>
          <p:cNvPicPr/>
          <p:nvPr/>
        </p:nvPicPr>
        <p:blipFill>
          <a:blip r:embed="rId1"/>
          <a:srcRect l="0" t="0" r="125" b="4703"/>
          <a:stretch/>
        </p:blipFill>
        <p:spPr>
          <a:xfrm>
            <a:off x="613800" y="1425960"/>
            <a:ext cx="8307000" cy="479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3120" cy="70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it-IT" sz="29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Immatricolazioni phev - 2024</a:t>
            </a:r>
            <a:endParaRPr b="0" lang="en-US" sz="29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33" name="Content Placeholder 7" descr="Immagine che contiene testo, schermata, diagramma, Policromia&#10;&#10;Il contenuto generato dall&amp;#39;IA potrebbe non essere corretto."/>
          <p:cNvPicPr/>
          <p:nvPr/>
        </p:nvPicPr>
        <p:blipFill>
          <a:blip r:embed="rId1"/>
          <a:stretch/>
        </p:blipFill>
        <p:spPr>
          <a:xfrm>
            <a:off x="2390040" y="1502640"/>
            <a:ext cx="7098120" cy="495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89240" y="470160"/>
            <a:ext cx="10740960" cy="65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it-IT" sz="29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Immatricolazioni 2018-2024</a:t>
            </a:r>
            <a:endParaRPr b="0" lang="en-US" sz="29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9303480" y="1872360"/>
            <a:ext cx="2443320" cy="42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Trend per le immatricolazioni mezzi puramente Elettrici (BEV).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Aumento seguito da calo.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36" name="Picture 3" descr="A graph of different colored lines&#10;&#10;AI-generated content may be incorrect."/>
          <p:cNvPicPr/>
          <p:nvPr/>
        </p:nvPicPr>
        <p:blipFill>
          <a:blip r:embed="rId1"/>
          <a:stretch/>
        </p:blipFill>
        <p:spPr>
          <a:xfrm>
            <a:off x="92520" y="1132560"/>
            <a:ext cx="9143640" cy="460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1560" y="548640"/>
            <a:ext cx="1075212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it-IT" sz="29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Perché il dato è in calo?</a:t>
            </a:r>
            <a:endParaRPr b="0" lang="en-US" sz="29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99040" y="2004480"/>
            <a:ext cx="2437560" cy="377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Boom iniziale seguito da una stabilizzazione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Analisi dei fattori: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  <a:ea typeface="Avenir Next LT Pro"/>
              </a:rPr>
              <a:t>ritardi negli investimenti, burocrazia lenta, domanda bassa.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39" name="Immagine 2" descr="Immagine che contiene testo, schermata, Diagramma, diagramma&#10;&#10;Il contenuto generato dall&amp;#39;IA potrebbe non essere corretto."/>
          <p:cNvPicPr/>
          <p:nvPr/>
        </p:nvPicPr>
        <p:blipFill>
          <a:blip r:embed="rId1"/>
          <a:srcRect l="0" t="0" r="121" b="4165"/>
          <a:stretch/>
        </p:blipFill>
        <p:spPr>
          <a:xfrm>
            <a:off x="3272760" y="1713600"/>
            <a:ext cx="8564400" cy="360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1560" y="548640"/>
            <a:ext cx="10707120" cy="61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it-IT" sz="29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Aumentano ma non abbastanza?</a:t>
            </a:r>
            <a:endParaRPr b="0" lang="en-US" sz="29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99040" y="2082960"/>
            <a:ext cx="3535920" cy="341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  <a:ea typeface="Avenir Next LT Pro"/>
              </a:rPr>
              <a:t>La quantità di colonnine dal 2010 ad oggi è indiscutibilmente aumentata, ma non abbastanza da garantire agli utenti la certezza di ricaricare la propria vettura.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42" name="Immagine 3" descr="A group of colorful circles with black text&#10;&#10;AI-generated content may be incorrect."/>
          <p:cNvPicPr/>
          <p:nvPr/>
        </p:nvPicPr>
        <p:blipFill>
          <a:blip r:embed="rId1"/>
          <a:stretch/>
        </p:blipFill>
        <p:spPr>
          <a:xfrm>
            <a:off x="4685040" y="1513800"/>
            <a:ext cx="6128280" cy="479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74096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it-IT" sz="2900" spc="700" strike="noStrike" u="none" cap="all">
                <a:solidFill>
                  <a:schemeClr val="dk1"/>
                </a:solidFill>
                <a:effectLst/>
                <a:uFillTx/>
                <a:latin typeface="Avenir Next LT Pro Light"/>
              </a:rPr>
              <a:t>Numero di colonnine in Europa</a:t>
            </a:r>
            <a:endParaRPr b="0" lang="en-US" sz="29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44" name="Picture 4" descr="A graph of a number of people&#10;&#10;AI-generated content may be incorrect."/>
          <p:cNvPicPr/>
          <p:nvPr/>
        </p:nvPicPr>
        <p:blipFill>
          <a:blip r:embed="rId1"/>
          <a:srcRect l="0" t="0" r="0" b="4811"/>
          <a:stretch/>
        </p:blipFill>
        <p:spPr>
          <a:xfrm>
            <a:off x="1166400" y="1234440"/>
            <a:ext cx="9521640" cy="507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2004840" y="458280"/>
            <a:ext cx="817956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buNone/>
            </a:pPr>
            <a:r>
              <a:rPr b="1" lang="it-IT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La situazione in Italia - bev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913600" y="2049840"/>
            <a:ext cx="3129120" cy="26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In Italia la situazione segue il trend europeo.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Per analizzare più nello specifico abbiamo categorizzato la situazione facendo una distinzione tra Nord, Centro, Sud e Isole.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104040" y="1582920"/>
            <a:ext cx="8811360" cy="436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746720" y="439560"/>
            <a:ext cx="873396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buNone/>
            </a:pPr>
            <a:r>
              <a:rPr b="1" lang="it-IT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La situazione in Italia – phev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453600" y="1155240"/>
            <a:ext cx="11324880" cy="560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2137320" y="390240"/>
            <a:ext cx="796428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en-US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CRESCITA PERCENTUALE PHEV VS BEV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51" name="Picture 4" descr=""/>
          <p:cNvPicPr/>
          <p:nvPr/>
        </p:nvPicPr>
        <p:blipFill>
          <a:blip r:embed="rId1"/>
          <a:srcRect l="0" t="0" r="0" b="4454"/>
          <a:stretch/>
        </p:blipFill>
        <p:spPr>
          <a:xfrm>
            <a:off x="1516320" y="1988640"/>
            <a:ext cx="9206280" cy="435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en-US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TREND dI CRESCITA AUTO CIRCOLANTI PHEV VS BEV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53" name="Picture 5" descr="A graph of a number of cars&#10;&#10;AI-generated content may be incorrect."/>
          <p:cNvPicPr/>
          <p:nvPr/>
        </p:nvPicPr>
        <p:blipFill>
          <a:blip r:embed="rId1"/>
          <a:stretch/>
        </p:blipFill>
        <p:spPr>
          <a:xfrm>
            <a:off x="1379880" y="1798920"/>
            <a:ext cx="9221040" cy="493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3120" cy="61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en-US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Leggi e incentivi in italia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08560" y="2019240"/>
            <a:ext cx="1035720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Trend italiano: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2286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Positivo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--&gt;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  <a:ea typeface="Avenir Next LT Pro"/>
              </a:rPr>
              <a:t>Crescita auto EV/ibride trainata da incentivi statali (Ecobonus 2022-2023). Bonus acquisto veicoli elettrici + crediti d'imposta per colonnine domestiche/aziendali 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2286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Negativo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--&gt;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  <a:ea typeface="Avenir Next LT Pro"/>
              </a:rPr>
              <a:t>Fine Ecobonus auto → calo vendite EV del 15-20% nel 2024-2025; ritardi infrastrutture pubbliche.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lvl="1" marL="228600" indent="-228600" defTabSz="91440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venir Next LT Pro Light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Negativo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--&gt;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  <a:ea typeface="Avenir Next LT Pro"/>
              </a:rPr>
              <a:t>Rete colonnine insufficiente (nonostante boom installazioni private) per supportare target UE 2030.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08560" y="546120"/>
            <a:ext cx="10357200" cy="64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1" lang="en-US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Confronto Nord Centro Sud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57" name="Content Placeholder 6" descr=""/>
          <p:cNvPicPr/>
          <p:nvPr/>
        </p:nvPicPr>
        <p:blipFill>
          <a:blip r:embed="rId1"/>
          <a:stretch/>
        </p:blipFill>
        <p:spPr>
          <a:xfrm>
            <a:off x="1055160" y="1552680"/>
            <a:ext cx="9940320" cy="4933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9880" y="98748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buNone/>
            </a:pPr>
            <a:r>
              <a:rPr b="1" lang="en-US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Confronto</a:t>
            </a:r>
            <a:br>
              <a:rPr sz="2800"/>
            </a:br>
            <a:r>
              <a:rPr b="1" lang="en-US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regionale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59" name="Immagine 14" descr="Immagine che contiene testo, schermata, numero, Diagramma&#10;&#10;Il contenuto generato dall&amp;#39;IA potrebbe non essere corretto."/>
          <p:cNvPicPr/>
          <p:nvPr/>
        </p:nvPicPr>
        <p:blipFill>
          <a:blip r:embed="rId1"/>
          <a:stretch/>
        </p:blipFill>
        <p:spPr>
          <a:xfrm>
            <a:off x="4516920" y="586800"/>
            <a:ext cx="7130520" cy="56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CasellaDiTesto 15"/>
          <p:cNvSpPr/>
          <p:nvPr/>
        </p:nvSpPr>
        <p:spPr>
          <a:xfrm>
            <a:off x="739080" y="2585880"/>
            <a:ext cx="3931920" cy="31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noAutofit/>
          </a:bodyPr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Nello specifico attraverso questo istogramma si può notare il numero di auto elettriche presenti in ogni regione.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Ciò influenza anche la presenza di colonnine elettriche nel territorio?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98840" y="365040"/>
            <a:ext cx="1130508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en-US" sz="28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Evoluzione colonnine di ricarica in italia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pic>
        <p:nvPicPr>
          <p:cNvPr id="162" name="Content Placeholder 6" descr="A map of italy with a number&#10;&#10;AI-generated content may be incorrect."/>
          <p:cNvPicPr/>
          <p:nvPr/>
        </p:nvPicPr>
        <p:blipFill>
          <a:blip r:embed="rId1"/>
          <a:stretch/>
        </p:blipFill>
        <p:spPr>
          <a:xfrm>
            <a:off x="5653440" y="2021040"/>
            <a:ext cx="3840840" cy="454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2" descr=""/>
          <p:cNvPicPr/>
          <p:nvPr/>
        </p:nvPicPr>
        <p:blipFill>
          <a:blip r:embed="rId2"/>
          <a:srcRect l="2948" t="1008" r="1769" b="751"/>
          <a:stretch/>
        </p:blipFill>
        <p:spPr>
          <a:xfrm>
            <a:off x="9890280" y="2012760"/>
            <a:ext cx="914760" cy="453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CasellaDiTesto 3"/>
          <p:cNvSpPr/>
          <p:nvPr/>
        </p:nvSpPr>
        <p:spPr>
          <a:xfrm>
            <a:off x="1020240" y="2462400"/>
            <a:ext cx="405540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La risposta è ovviamente sì, in quanto nelle regioni in cui vi sono più auto elettriche, hanno presenti una maggior quantità anche di colonnine per la ricarica.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15840" y="402840"/>
            <a:ext cx="1035720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1" lang="it-IT" sz="4000" spc="700" strike="noStrike" u="none" cap="all">
                <a:solidFill>
                  <a:schemeClr val="dk1"/>
                </a:solidFill>
                <a:effectLst/>
                <a:uFillTx/>
                <a:latin typeface="Avenir Next LT Pro"/>
              </a:rPr>
              <a:t>GRAZIE PER L'ATTENZIONE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808560" y="2019240"/>
            <a:ext cx="1035720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500" strike="noStrike" u="none">
                <a:solidFill>
                  <a:schemeClr val="dk1"/>
                </a:solidFill>
                <a:effectLst/>
                <a:uFillTx/>
                <a:latin typeface="Avenir Next LT Pro Light"/>
              </a:rPr>
              <a:t>GitHub: </a:t>
            </a:r>
            <a:r>
              <a:rPr b="0" lang="it-IT" sz="2500" strike="noStrike" u="sng">
                <a:solidFill>
                  <a:schemeClr val="dk1"/>
                </a:solidFill>
                <a:effectLst/>
                <a:uFillTx/>
                <a:latin typeface="Avenir Next LT Pro Light"/>
                <a:ea typeface="Avenir Next LT Pro Light"/>
                <a:hlinkClick r:id="rId1"/>
              </a:rPr>
              <a:t>github.com/MarcoB27/</a:t>
            </a:r>
            <a:r>
              <a:rPr b="0" lang="it-IT" sz="2500" strike="noStrike" u="sng">
                <a:solidFill>
                  <a:schemeClr val="dk1"/>
                </a:solidFill>
                <a:effectLst/>
                <a:uFillTx/>
                <a:latin typeface="Avenir Next LT Pro Light"/>
                <a:ea typeface="Avenir Next LT Pro Light"/>
                <a:hlinkClick r:id="rId2"/>
              </a:rPr>
              <a:t>data_visualization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indent="0" algn="ctr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indent="0" algn="ctr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  <a:ea typeface="Avenir Next LT Pro Light"/>
              </a:rPr>
              <a:t>Bellante Marco 26103A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indent="0" algn="ctr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  <a:ea typeface="Avenir Next LT Pro Light"/>
              </a:rPr>
              <a:t>Corroppoli Fabio Aurelio 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 Light"/>
              </a:rPr>
              <a:t>51584A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indent="0" algn="ctr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venir Next LT Pro Light"/>
                <a:ea typeface="Avenir Next LT Pro Light"/>
              </a:rPr>
              <a:t>Vitofregno Matteo 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 Light"/>
              </a:rPr>
              <a:t>32788A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eniceBeachVTI">
  <a:themeElements>
    <a:clrScheme name="VeniceBeachVTI">
      <a:dk1>
        <a:srgbClr val="000000"/>
      </a:dk1>
      <a:lt1>
        <a:srgbClr val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 pitchFamily="0" charset="1"/>
        <a:ea typeface=""/>
        <a:cs typeface=""/>
      </a:majorFont>
      <a:minorFont>
        <a:latin typeface="Avenir Next L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eniceBeachVTI">
  <a:themeElements>
    <a:clrScheme name="VeniceBeachVTI">
      <a:dk1>
        <a:srgbClr val="000000"/>
      </a:dk1>
      <a:lt1>
        <a:srgbClr val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 pitchFamily="0" charset="1"/>
        <a:ea typeface=""/>
        <a:cs typeface=""/>
      </a:majorFont>
      <a:minorFont>
        <a:latin typeface="Avenir Next L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eniceBeachVTI">
  <a:themeElements>
    <a:clrScheme name="VeniceBeachVTI">
      <a:dk1>
        <a:srgbClr val="000000"/>
      </a:dk1>
      <a:lt1>
        <a:srgbClr val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 pitchFamily="0" charset="1"/>
        <a:ea typeface=""/>
        <a:cs typeface=""/>
      </a:majorFont>
      <a:minorFont>
        <a:latin typeface="Avenir Next L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LibreOffice/25.2.7.2$Linux_X86_64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2026-03-02T15:13:13Z</dcterms:created>
  <dc:creator/>
  <dc:description/>
  <dc:language>en-US</dc:language>
  <cp:lastModifiedBy/>
  <dcterms:modified xsi:type="dcterms:W3CDTF">2026-03-26T12:46:31Z</dcterms:modified>
  <cp:revision>60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21</vt:i4>
  </property>
</Properties>
</file>