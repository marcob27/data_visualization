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4" r:id="rId1"/>
  </p:sldMasterIdLst>
  <p:notesMasterIdLst>
    <p:notesMasterId r:id="rId23"/>
  </p:notesMasterIdLst>
  <p:sldIdLst>
    <p:sldId id="256" r:id="rId2"/>
    <p:sldId id="257" r:id="rId3"/>
    <p:sldId id="272" r:id="rId4"/>
    <p:sldId id="258" r:id="rId5"/>
    <p:sldId id="262" r:id="rId6"/>
    <p:sldId id="263" r:id="rId7"/>
    <p:sldId id="265" r:id="rId8"/>
    <p:sldId id="270" r:id="rId9"/>
    <p:sldId id="264" r:id="rId10"/>
    <p:sldId id="267" r:id="rId11"/>
    <p:sldId id="268" r:id="rId12"/>
    <p:sldId id="269" r:id="rId13"/>
    <p:sldId id="266" r:id="rId14"/>
    <p:sldId id="273" r:id="rId15"/>
    <p:sldId id="274" r:id="rId16"/>
    <p:sldId id="275" r:id="rId17"/>
    <p:sldId id="259" r:id="rId18"/>
    <p:sldId id="260" r:id="rId19"/>
    <p:sldId id="261" r:id="rId20"/>
    <p:sldId id="271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5A6C7D-7E10-417D-B0D8-D1612AD4A1A9}" type="datetimeFigureOut">
              <a:rPr lang="it-IT" smtClean="0"/>
              <a:t>24/03/2026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67ACC-33C8-47EF-BC52-CF7355F9BE4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6991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85BB-8B07-4DC9-86F3-2A225C777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261872"/>
            <a:ext cx="7638222" cy="2852928"/>
          </a:xfrm>
        </p:spPr>
        <p:txBody>
          <a:bodyPr anchor="b">
            <a:normAutofit/>
          </a:bodyPr>
          <a:lstStyle>
            <a:lvl1pPr algn="l">
              <a:lnSpc>
                <a:spcPct val="130000"/>
              </a:lnSpc>
              <a:defRPr sz="3600" spc="13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4D496A-6E7A-4923-8ED5-B4164125D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0200" y="4681728"/>
            <a:ext cx="7638222" cy="9292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buNone/>
              <a:defRPr sz="1600" b="1" cap="all" spc="600" baseline="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E3D20-43DC-4C14-8CFF-18545AED1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81F62-F574-45B7-A0A1-084BEE16701F}" type="datetime1">
              <a:rPr lang="it-IT" smtClean="0"/>
              <a:t>24/03/2026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FC300-5AFC-418B-85FD-EFA94BD7A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9C7E81-ED3C-4DB0-8E74-AD2A87E6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C817C9-850F-4FB6-B93B-CF3076C4A5C1}"/>
              </a:ext>
            </a:extLst>
          </p:cNvPr>
          <p:cNvGrpSpPr/>
          <p:nvPr/>
        </p:nvGrpSpPr>
        <p:grpSpPr>
          <a:xfrm flipH="1">
            <a:off x="0" y="0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59433A8-B67D-4675-AFDE-131069A709FC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1CD1C45-6A4D-4237-B39C-2D58F401A8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3303463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25F8D-0421-4AEC-9C40-A13163EC8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37680-115A-411F-AEF6-4AC2096B4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CC193-1304-4D0F-8331-14D4EC08E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3AF93-A4F0-440B-85BC-129713F076D5}" type="datetime1">
              <a:rPr lang="it-IT" smtClean="0"/>
              <a:t>24/03/2026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455C1-CD32-4050-BAFF-51CC6B62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AF608-FF11-4CBE-B717-5D56AE67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346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D23A02E-6DCF-427A-8CFD-281B2185C7F0}"/>
              </a:ext>
            </a:extLst>
          </p:cNvPr>
          <p:cNvSpPr/>
          <p:nvPr/>
        </p:nvSpPr>
        <p:spPr>
          <a:xfrm>
            <a:off x="3242985" y="511814"/>
            <a:ext cx="5706031" cy="570603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dist="165100" dir="2220000" algn="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B4C32-F19C-44F3-8EF8-1F506D74D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9192" y="1709738"/>
            <a:ext cx="4893617" cy="2553893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889729-131C-4F78-9DAA-E9EE28EA91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2249" y="4540468"/>
            <a:ext cx="4067503" cy="11540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1" cap="all" spc="6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4E608-AC1F-41FB-974A-BD619C6C2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CAB6BF-9012-48D0-8A53-C9ECA0C32D37}" type="datetime1">
              <a:rPr lang="it-IT" smtClean="0"/>
              <a:t>24/03/2026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86158-8B03-45C3-891D-0357B198B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3B054-E8A2-43FD-B0FB-B1CCFA4B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24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64AA7-6D5A-402E-AD1A-880F2BDB7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D32B6-F9D8-4A43-B52C-336CFAB00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2976" y="2019299"/>
            <a:ext cx="4995019" cy="415766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0CDD9-5742-4A34-BA72-7CCA72D91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718" y="2019299"/>
            <a:ext cx="5027954" cy="415766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2783AA-D2AB-4385-A91F-870CB656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040F6-6349-40E0-A7D7-17C1C3F33D5D}" type="datetime1">
              <a:rPr lang="it-IT" smtClean="0"/>
              <a:t>24/03/2026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5AAD9C-5CA2-4DA1-84D3-B1838979F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1AB3C7-9574-47BC-932D-782BEE998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21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4C468-781B-4BC5-8DEA-B9EF2BF90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460" y="369168"/>
            <a:ext cx="10458729" cy="14398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7223F-48E4-491D-AB5D-5FC8A0C566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1" y="1843067"/>
            <a:ext cx="5007894" cy="66200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6B764-4B87-42FF-ABAA-69B07B88F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0101" y="2505075"/>
            <a:ext cx="5007894" cy="3684588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4357B9-406F-4BF9-B8FB-C53421EEF5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6061" y="1843067"/>
            <a:ext cx="4994128" cy="66200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20462B-1939-4DAA-A7DD-6BDC95054A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6061" y="2505075"/>
            <a:ext cx="4994128" cy="3684588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6C938B-C4C2-4FA9-85CA-9CD742CD7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08C88-2A7D-4A7C-A618-BEC3A4E446F2}" type="datetime1">
              <a:rPr lang="it-IT" smtClean="0"/>
              <a:t>24/03/2026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AD8886-0D28-4D49-8D43-151D37E94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2FDDE8-E9F8-4B6C-9A40-829617A7C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846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AE3D8-6C35-428B-B2F2-251FDE10B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983769"/>
            <a:ext cx="10094770" cy="1180574"/>
          </a:xfrm>
          <a:solidFill>
            <a:schemeClr val="accent1">
              <a:lumMod val="20000"/>
              <a:lumOff val="80000"/>
            </a:schemeClr>
          </a:solidFill>
          <a:effectLst>
            <a:outerShdw dist="165100" dir="18900000" algn="bl" rotWithShape="0">
              <a:prstClr val="black"/>
            </a:outerShdw>
          </a:effectLst>
        </p:spPr>
        <p:txBody>
          <a:bodyPr/>
          <a:lstStyle>
            <a:lvl1pPr marL="18288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0B8015-E11A-42CA-AE88-7BD73F87E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A87C2-EBB8-45ED-9AF7-0985F38621F7}" type="datetime1">
              <a:rPr lang="it-IT" smtClean="0"/>
              <a:t>24/03/2026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309078-34CA-45CD-B479-03906A265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03258-F989-47B2-A643-A60CD8A7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437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DA2F31-48B6-40CE-A364-3CE73FD85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EB595-3B79-4C00-A9CE-A41C1FE53ED5}" type="datetime1">
              <a:rPr lang="it-IT" smtClean="0"/>
              <a:t>24/03/2026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7EEA00-F166-41EB-9331-CA99BB70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B051F-F8FC-4FF6-9783-45F9FE7AC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24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08635-A5AF-48F4-8CD2-FB0E01113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anchor="t">
            <a:normAutofit/>
          </a:bodyPr>
          <a:lstStyle>
            <a:lvl1pPr>
              <a:defRPr sz="2800"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15E0E-DCC0-4781-A608-962B1241B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9826" y="987425"/>
            <a:ext cx="6045562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21F43E-3D50-4A1C-A289-B3D0DD0E7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3127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70E3A-6639-4EA0-8305-C1899DAB4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17DBD-110F-4FD4-B74E-515AABA55652}" type="datetime1">
              <a:rPr lang="it-IT" smtClean="0"/>
              <a:t>24/03/2026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AFD57-4189-42FB-B29E-96366E51B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5E2EC-8483-4FBC-9D29-C19025FA8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312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E581-A090-4AE9-9965-B06BDB52B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anchor="t">
            <a:normAutofit/>
          </a:bodyPr>
          <a:lstStyle>
            <a:lvl1pPr>
              <a:defRPr sz="2800"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39DEF4-262F-4ACF-9B29-3D4B819E706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353969" y="987425"/>
            <a:ext cx="5694503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ED7CBB-7A6F-441E-9072-2494B952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3127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59692-77BE-4A7D-AA70-635007A6E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DA6D8-6985-4210-94D2-A3E0E9CC5587}" type="datetime1">
              <a:rPr lang="it-IT" smtClean="0"/>
              <a:t>24/03/2026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9A4DA-63AF-4D6A-98DB-E1D0AC741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B7958-B19B-4C23-A82F-DD4E4B912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14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958AD-1CAD-45B3-B83D-DC9D33CD6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153F2E-0397-4423-8A88-D0059DEAF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ADDE1-7025-4FA9-822D-48168508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83D41-2F15-48EB-AAD0-EBC7D753FE1A}" type="datetime1">
              <a:rPr lang="it-IT" smtClean="0"/>
              <a:t>24/03/2026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A73E0-F328-46DC-98BE-CA0981F75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52226-010C-494F-8BE8-BF91F3553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F89E9C4-9D18-4529-BC0C-68EAE507CDF8}"/>
              </a:ext>
            </a:extLst>
          </p:cNvPr>
          <p:cNvGrpSpPr/>
          <p:nvPr/>
        </p:nvGrpSpPr>
        <p:grpSpPr>
          <a:xfrm flipH="1" flipV="1">
            <a:off x="0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7DF5937-0C03-4786-AB62-3CF7CECB92D6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9AD93DB-2DB0-4B2D-884B-6EC453443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4156143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C635D0-31D9-44E1-911D-F7D5D5400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3914" y="624313"/>
            <a:ext cx="2537986" cy="55097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7F9230-1FA4-439D-A800-B5F006F07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00100" y="624313"/>
            <a:ext cx="7816542" cy="550978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AB2A3-7055-43AF-8BAB-0A9B7444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62A28-A7B7-41B3-A7E1-F4A2B13AB6CB}" type="datetime1">
              <a:rPr lang="it-IT" smtClean="0"/>
              <a:t>24/03/2026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A1821-A311-49CD-BCB4-B4BC8866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7C6A8-813A-486A-AA90-AB28935F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38C7A17-06CC-442C-A876-A51B2B556508}"/>
              </a:ext>
            </a:extLst>
          </p:cNvPr>
          <p:cNvGrpSpPr/>
          <p:nvPr/>
        </p:nvGrpSpPr>
        <p:grpSpPr>
          <a:xfrm flipH="1" flipV="1">
            <a:off x="0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54C1798A-2980-4F34-8355-7BCB6B295322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D7542C-E4AE-488F-BC75-2E7ED8391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1057674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86DAE1-1F65-43B8-A400-95E6DEEDC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61" y="365125"/>
            <a:ext cx="10357666" cy="14384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5C993-A44B-4C2D-818E-4C9000BB0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21B6E-ECC6-47D0-9C14-812B746F1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5014" y="634204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1AEE0E63-1C4E-4B1B-9ADE-BE64996A5942}" type="datetime1">
              <a:rPr lang="it-IT" smtClean="0"/>
              <a:t>24/03/2026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A716-DEA9-48A9-A5BC-0F392D2B4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96200" y="6342042"/>
            <a:ext cx="3470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CB69E-A0E4-4558-9C62-4CD8CDD2A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329" y="6342042"/>
            <a:ext cx="5262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8DFDE724-0293-4953-AE9D-4D814FA589B0}" type="slidenum">
              <a:rPr lang="en-US" dirty="0"/>
              <a:t>‹N›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6ECC43-D65E-4A7B-A76B-D278A2184166}"/>
              </a:ext>
            </a:extLst>
          </p:cNvPr>
          <p:cNvGrpSpPr/>
          <p:nvPr/>
        </p:nvGrpSpPr>
        <p:grpSpPr>
          <a:xfrm flipV="1">
            <a:off x="11626076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EE443C5-5AB9-407B-A8C3-011BB14FEF06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38C9FA-DA5E-4785-8F4A-CA481A3A65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245102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hf sldNum="0" hdr="0" ftr="0" dt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3200" kern="1200" cap="all" spc="7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SzPct val="8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30000"/>
        </a:lnSpc>
        <a:spcBef>
          <a:spcPts val="500"/>
        </a:spcBef>
        <a:buSzPct val="10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SzPct val="10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22860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2">
          <p15:clr>
            <a:srgbClr val="F26B43"/>
          </p15:clr>
        </p15:guide>
        <p15:guide id="2" pos="504">
          <p15:clr>
            <a:srgbClr val="F26B43"/>
          </p15:clr>
        </p15:guide>
        <p15:guide id="3" pos="7176">
          <p15:clr>
            <a:srgbClr val="F26B43"/>
          </p15:clr>
        </p15:guide>
        <p15:guide id="5" orient="horz" pos="1272">
          <p15:clr>
            <a:srgbClr val="F26B43"/>
          </p15:clr>
        </p15:guide>
        <p15:guide id="6" orient="horz" pos="1728">
          <p15:clr>
            <a:srgbClr val="F26B43"/>
          </p15:clr>
        </p15:guide>
        <p15:guide id="7" orient="horz" pos="3864">
          <p15:clr>
            <a:srgbClr val="F26B43"/>
          </p15:clr>
        </p15:guide>
        <p15:guide id="8" orient="horz" pos="3432">
          <p15:clr>
            <a:srgbClr val="F26B43"/>
          </p15:clr>
        </p15:guide>
        <p15:guide id="9" pos="1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oB27/data_visualizatio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1CA83-F69A-74B8-1A99-E3CB6E1BA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Auto </a:t>
            </a:r>
            <a:r>
              <a:rPr lang="en-US" b="1" err="1"/>
              <a:t>Elettriche</a:t>
            </a:r>
            <a:r>
              <a:rPr lang="en-US" b="1"/>
              <a:t> ed </a:t>
            </a:r>
            <a:r>
              <a:rPr lang="en-US" b="1" err="1"/>
              <a:t>Ibride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2CFAD-708C-6FAF-03DD-D49003F34C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0" y="1568476"/>
            <a:ext cx="10515600" cy="69877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3600" b="1" err="1">
                <a:solidFill>
                  <a:schemeClr val="bg2">
                    <a:lumMod val="49000"/>
                  </a:schemeClr>
                </a:solidFill>
              </a:rPr>
              <a:t>Analisi</a:t>
            </a:r>
            <a:r>
              <a:rPr lang="en-US" sz="3600" b="1">
                <a:solidFill>
                  <a:schemeClr val="bg2">
                    <a:lumMod val="49000"/>
                  </a:schemeClr>
                </a:solidFill>
              </a:rPr>
              <a:t> del Mercato Italiano ed Europeo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CFC787-BE46-D4DC-32BD-A2C548353729}"/>
              </a:ext>
            </a:extLst>
          </p:cNvPr>
          <p:cNvSpPr txBox="1"/>
          <p:nvPr/>
        </p:nvSpPr>
        <p:spPr>
          <a:xfrm>
            <a:off x="7582585" y="4370479"/>
            <a:ext cx="371581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Bellante Marco 26103A</a:t>
            </a:r>
          </a:p>
          <a:p>
            <a:r>
              <a:rPr lang="it-IT" err="1"/>
              <a:t>Corroppoli</a:t>
            </a:r>
            <a:r>
              <a:rPr lang="it-IT"/>
              <a:t> Fabio Aurelio 51584A</a:t>
            </a:r>
          </a:p>
          <a:p>
            <a:r>
              <a:rPr lang="it-IT"/>
              <a:t>Vitobello Matteo 32788A</a:t>
            </a:r>
          </a:p>
          <a:p>
            <a:endParaRPr lang="it-IT"/>
          </a:p>
        </p:txBody>
      </p:sp>
      <p:pic>
        <p:nvPicPr>
          <p:cNvPr id="7" name="Immagine 6" descr="Immagine che contiene verde, giardino&#10;&#10;Il contenuto generato dall&amp;#39;IA potrebbe non essere corretto.">
            <a:extLst>
              <a:ext uri="{FF2B5EF4-FFF2-40B4-BE49-F238E27FC236}">
                <a16:creationId xmlns:a16="http://schemas.microsoft.com/office/drawing/2014/main" id="{3DD6B544-BF8E-9EB0-4BBF-95FBCAED7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3" y="2554288"/>
            <a:ext cx="6238875" cy="36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20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C37D72-675D-6B71-1750-86E013598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720" y="1370654"/>
            <a:ext cx="5168509" cy="41148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/>
              <a:t>Attraverso l'uso di visualizzazioni dei dati, come grafici a linee, barre e mappe tematiche, abbiamo analizzato i principali sviluppi della diffusione delle auto elettriche in Europa e in Italia, evidenziando variazione regionali ed europee nel tempo.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A5EBD3-5245-84BC-3247-DCE269A1E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527" y="2217327"/>
            <a:ext cx="3324224" cy="1094351"/>
          </a:xfrm>
          <a:prstGeom prst="rect">
            <a:avLst/>
          </a:prstGeom>
        </p:spPr>
      </p:pic>
      <p:pic>
        <p:nvPicPr>
          <p:cNvPr id="8" name="Immagine 7" descr="Motus-E (@AssociazioneMotusE) • Facebook">
            <a:extLst>
              <a:ext uri="{FF2B5EF4-FFF2-40B4-BE49-F238E27FC236}">
                <a16:creationId xmlns:a16="http://schemas.microsoft.com/office/drawing/2014/main" id="{B59ADB1A-8E3E-3AB9-31B6-B610F0544F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87" t="33254" r="880" b="31582"/>
          <a:stretch>
            <a:fillRect/>
          </a:stretch>
        </p:blipFill>
        <p:spPr>
          <a:xfrm>
            <a:off x="8185794" y="3594772"/>
            <a:ext cx="3062579" cy="1085507"/>
          </a:xfrm>
          <a:prstGeom prst="rect">
            <a:avLst/>
          </a:prstGeom>
        </p:spPr>
      </p:pic>
      <p:pic>
        <p:nvPicPr>
          <p:cNvPr id="9" name="Immagine 8" descr="Ficheru:ISTAT - logo (Italy, 2005).svg - Wikipedia">
            <a:extLst>
              <a:ext uri="{FF2B5EF4-FFF2-40B4-BE49-F238E27FC236}">
                <a16:creationId xmlns:a16="http://schemas.microsoft.com/office/drawing/2014/main" id="{2164FB61-C796-8C62-DD3A-67822E4DF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5712" y="5128347"/>
            <a:ext cx="5392645" cy="1066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82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C4C0-18BE-5FA2-4E80-3FFECB8A7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err="1"/>
              <a:t>Situazione</a:t>
            </a:r>
            <a:r>
              <a:rPr lang="en-US" b="1"/>
              <a:t> Europea</a:t>
            </a:r>
            <a:endParaRPr lang="it-IT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C6644-36F8-FFDE-4A54-17BD55534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981" y="2289098"/>
            <a:ext cx="11163136" cy="3832721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  <a:p>
            <a:pPr marL="457200" lvl="1" indent="0">
              <a:buNone/>
            </a:pPr>
            <a:endParaRPr lang="en-US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6C1C27-E5E2-5F25-8186-68BFB226D3A3}"/>
              </a:ext>
            </a:extLst>
          </p:cNvPr>
          <p:cNvSpPr txBox="1"/>
          <p:nvPr/>
        </p:nvSpPr>
        <p:spPr>
          <a:xfrm>
            <a:off x="573073" y="2481222"/>
            <a:ext cx="6108595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Cosa dice l'UE a riguardo?</a:t>
            </a:r>
          </a:p>
          <a:p>
            <a:r>
              <a:rPr lang="it-IT"/>
              <a:t>Il decreto UE 2019/631 emesso nel 2019 ha posto degli obiettivi: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2025: -15% emissioni CO2 rispetto al 2021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2030: -55% emissioni CO2 rispetto al 2021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2035: -100% emissioni CO2 (solo zero-emissioni)</a:t>
            </a:r>
          </a:p>
          <a:p>
            <a:pPr marL="285750" indent="-285750">
              <a:buFont typeface="Calibri"/>
              <a:buChar char="-"/>
            </a:pPr>
            <a:endParaRPr lang="it-IT"/>
          </a:p>
          <a:p>
            <a:r>
              <a:rPr lang="it-IT"/>
              <a:t>Cosa è cambiato dal 2019 ad ora?</a:t>
            </a:r>
          </a:p>
          <a:p>
            <a:r>
              <a:rPr lang="it-IT"/>
              <a:t>Nel 2025, la Commissione UE ha introdotto flessibilità: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Media triennale 2025-2027 per target CO2</a:t>
            </a:r>
          </a:p>
          <a:p>
            <a:pPr marL="285750" indent="-285750">
              <a:buFont typeface="Calibri"/>
              <a:buChar char="-"/>
            </a:pPr>
            <a:r>
              <a:rPr lang="it-IT"/>
              <a:t>Revisione anticipata del target 2035 da 2026 a fine 2025, su pressione dei produttori</a:t>
            </a:r>
          </a:p>
        </p:txBody>
      </p:sp>
      <p:pic>
        <p:nvPicPr>
          <p:cNvPr id="7" name="Immagine 6" descr="Immagine che contiene veicolo, Veicolo terrestre, ruota, giocattolo&#10;&#10;Il contenuto generato dall&amp;#39;IA potrebbe non essere corretto.">
            <a:extLst>
              <a:ext uri="{FF2B5EF4-FFF2-40B4-BE49-F238E27FC236}">
                <a16:creationId xmlns:a16="http://schemas.microsoft.com/office/drawing/2014/main" id="{79349DA2-2757-59C8-27A8-56BA7733E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1068" y="1822345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893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0D3BCA-3CC8-149E-2018-1A9007AC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031" y="458993"/>
            <a:ext cx="11032504" cy="38146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n-US" sz="3200" b="1" kern="1200" err="1">
                <a:latin typeface="+mj-lt"/>
                <a:ea typeface="+mj-ea"/>
                <a:cs typeface="+mj-cs"/>
              </a:rPr>
              <a:t>Nuove</a:t>
            </a:r>
            <a:r>
              <a:rPr lang="en-US" sz="3200" b="1" kern="1200">
                <a:latin typeface="+mj-lt"/>
                <a:ea typeface="+mj-ea"/>
                <a:cs typeface="+mj-cs"/>
              </a:rPr>
              <a:t> </a:t>
            </a:r>
            <a:r>
              <a:rPr lang="en-US" sz="3200" b="1" kern="1200" err="1">
                <a:latin typeface="+mj-lt"/>
                <a:ea typeface="+mj-ea"/>
                <a:cs typeface="+mj-cs"/>
              </a:rPr>
              <a:t>Immatricolazioni</a:t>
            </a:r>
            <a:r>
              <a:rPr lang="en-US" sz="3200" b="1" kern="1200">
                <a:latin typeface="+mj-lt"/>
                <a:ea typeface="+mj-ea"/>
                <a:cs typeface="+mj-cs"/>
              </a:rPr>
              <a:t> per </a:t>
            </a:r>
            <a:r>
              <a:rPr lang="en-US" sz="3200" b="1" kern="1200" err="1">
                <a:latin typeface="+mj-lt"/>
                <a:ea typeface="+mj-ea"/>
                <a:cs typeface="+mj-cs"/>
              </a:rPr>
              <a:t>tipo</a:t>
            </a:r>
            <a:r>
              <a:rPr lang="en-US" sz="3200" b="1" kern="1200">
                <a:latin typeface="+mj-lt"/>
                <a:ea typeface="+mj-ea"/>
                <a:cs typeface="+mj-cs"/>
              </a:rPr>
              <a:t> di </a:t>
            </a:r>
            <a:r>
              <a:rPr lang="en-US" sz="3200" b="1" kern="1200" err="1">
                <a:latin typeface="+mj-lt"/>
                <a:ea typeface="+mj-ea"/>
                <a:cs typeface="+mj-cs"/>
              </a:rPr>
              <a:t>Motorizzazione</a:t>
            </a:r>
            <a:endParaRPr lang="it-IT" sz="3200" err="1">
              <a:ea typeface="+mj-ea"/>
              <a:cs typeface="+mj-cs"/>
            </a:endParaRPr>
          </a:p>
        </p:txBody>
      </p:sp>
      <p:pic>
        <p:nvPicPr>
          <p:cNvPr id="3" name="Picture 2" descr="A diagram of a pie chart&#10;&#10;AI-generated content may be incorrect.">
            <a:extLst>
              <a:ext uri="{FF2B5EF4-FFF2-40B4-BE49-F238E27FC236}">
                <a16:creationId xmlns:a16="http://schemas.microsoft.com/office/drawing/2014/main" id="{E8BFDCA7-2B0B-178E-931C-16CFCA8D4E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102" r="-142"/>
          <a:stretch>
            <a:fillRect/>
          </a:stretch>
        </p:blipFill>
        <p:spPr>
          <a:xfrm>
            <a:off x="1652588" y="1661174"/>
            <a:ext cx="8877344" cy="4861703"/>
          </a:xfrm>
          <a:prstGeom prst="rect">
            <a:avLst/>
          </a:prstGeom>
          <a:noFill/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CFC0AEEF-AA21-12B9-4BAC-C6444ED6AAFC}"/>
              </a:ext>
            </a:extLst>
          </p:cNvPr>
          <p:cNvSpPr txBox="1"/>
          <p:nvPr/>
        </p:nvSpPr>
        <p:spPr>
          <a:xfrm>
            <a:off x="577019" y="1288232"/>
            <a:ext cx="3455424" cy="37436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</a:pPr>
            <a:r>
              <a:rPr lang="en-US" sz="1600" b="1" err="1"/>
              <a:t>Confronto</a:t>
            </a:r>
            <a:r>
              <a:rPr lang="en-US" sz="1600" b="1"/>
              <a:t> </a:t>
            </a:r>
            <a:r>
              <a:rPr lang="en-US" sz="1600" b="1" err="1"/>
              <a:t>tra</a:t>
            </a:r>
            <a:r>
              <a:rPr lang="en-US" sz="1600" b="1"/>
              <a:t> </a:t>
            </a:r>
            <a:r>
              <a:rPr lang="en-US" sz="1600" b="1" err="1"/>
              <a:t>Paesi</a:t>
            </a:r>
            <a:r>
              <a:rPr lang="en-US" sz="1600" b="1"/>
              <a:t> </a:t>
            </a:r>
            <a:r>
              <a:rPr lang="en-US" sz="1600" b="1" err="1"/>
              <a:t>Europei</a:t>
            </a:r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4237756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FBD894-26C3-5673-2D33-774CA07E2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706435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Immatricolazioni 2015-2024</a:t>
            </a:r>
            <a:endParaRPr lang="it-IT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2AE59F1-53DD-5217-2085-DCFE42F138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2550" y="1950974"/>
            <a:ext cx="2387676" cy="43893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/>
              <a:t>Trend per le </a:t>
            </a:r>
            <a:r>
              <a:rPr lang="en-US" sz="1800" err="1"/>
              <a:t>immatricolazioni</a:t>
            </a:r>
            <a:r>
              <a:rPr lang="en-US" sz="1800"/>
              <a:t> di </a:t>
            </a:r>
            <a:r>
              <a:rPr lang="en-US" sz="1800" err="1"/>
              <a:t>mezzi</a:t>
            </a:r>
            <a:r>
              <a:rPr lang="en-US" sz="1800"/>
              <a:t> Diesel e Petrol.</a:t>
            </a:r>
            <a:endParaRPr lang="it-IT" sz="1800"/>
          </a:p>
          <a:p>
            <a:r>
              <a:rPr lang="en-US" sz="1800"/>
              <a:t>Calo </a:t>
            </a:r>
            <a:r>
              <a:rPr lang="en-US" sz="1800" err="1"/>
              <a:t>seguito</a:t>
            </a:r>
            <a:r>
              <a:rPr lang="en-US" sz="1800"/>
              <a:t> da </a:t>
            </a:r>
            <a:r>
              <a:rPr lang="en-US" sz="1800" err="1"/>
              <a:t>ripresa</a:t>
            </a:r>
            <a:r>
              <a:rPr lang="en-US" sz="1800"/>
              <a:t>.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65F3119-148C-A8E7-D888-C07FD3D70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96" y="1410729"/>
            <a:ext cx="8567587" cy="493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142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35DDF-363C-E2A8-F75C-B0C07FF53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8628E-DE12-02A5-C47E-8DB53D0E3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728847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Immatricolazioni 2015-2024</a:t>
            </a:r>
            <a:endParaRPr lang="it-IT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C5C85BD-42DB-E05C-E1FC-2860015241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24738" y="2275493"/>
            <a:ext cx="2401497" cy="403072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/>
              <a:t>Trend per le </a:t>
            </a:r>
            <a:r>
              <a:rPr lang="en-US" sz="1800" err="1"/>
              <a:t>immatricolazioni</a:t>
            </a:r>
            <a:r>
              <a:rPr lang="en-US" sz="1800"/>
              <a:t> </a:t>
            </a:r>
            <a:r>
              <a:rPr lang="en-US" sz="1800" err="1"/>
              <a:t>mezzi</a:t>
            </a:r>
            <a:r>
              <a:rPr lang="en-US" sz="1800"/>
              <a:t> Plug-In e Hybrid (PHEV).</a:t>
            </a:r>
            <a:endParaRPr lang="it-IT" sz="1800"/>
          </a:p>
          <a:p>
            <a:r>
              <a:rPr lang="en-US" sz="1800"/>
              <a:t>Continuo </a:t>
            </a:r>
            <a:r>
              <a:rPr lang="en-US" sz="1800" err="1"/>
              <a:t>aumento</a:t>
            </a:r>
            <a:r>
              <a:rPr lang="en-US" sz="180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80F10-2A5F-9C3C-E2C3-A026BB27AA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4" b="4703"/>
          <a:stretch>
            <a:fillRect/>
          </a:stretch>
        </p:blipFill>
        <p:spPr>
          <a:xfrm>
            <a:off x="613976" y="1425918"/>
            <a:ext cx="8307353" cy="479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9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9A7B244B-5845-F3F1-EB26-59F1A84AA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06435"/>
          </a:xfrm>
        </p:spPr>
        <p:txBody>
          <a:bodyPr>
            <a:normAutofit/>
          </a:bodyPr>
          <a:lstStyle/>
          <a:p>
            <a:pPr algn="ctr"/>
            <a:r>
              <a:rPr lang="it-IT" sz="2900" b="1"/>
              <a:t>Immatricolazioni </a:t>
            </a:r>
            <a:r>
              <a:rPr lang="it-IT" sz="2900" b="1" err="1"/>
              <a:t>phev</a:t>
            </a:r>
            <a:r>
              <a:rPr lang="it-IT" sz="2900" b="1"/>
              <a:t> - 2024</a:t>
            </a:r>
          </a:p>
        </p:txBody>
      </p:sp>
      <p:pic>
        <p:nvPicPr>
          <p:cNvPr id="8" name="Content Placeholder 7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C66AA7B-555E-8951-CCD7-A60DE12F7D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8635" y="1502621"/>
            <a:ext cx="7101603" cy="495241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58697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6E066-7CC6-5CDE-DB62-B3A947774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26DFC5-5BED-17C2-5ADF-5315FBA91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83" y="470199"/>
            <a:ext cx="10741152" cy="650406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Immatricolazioni 2018-2024</a:t>
            </a:r>
            <a:endParaRPr lang="it-IT" b="1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A4BCA1F-9FD7-8CFD-1A4C-B2CF76203D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03359" y="1872533"/>
            <a:ext cx="2443593" cy="42996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/>
              <a:t>Trend per le </a:t>
            </a:r>
            <a:r>
              <a:rPr lang="en-US" sz="1800" err="1"/>
              <a:t>immatricolazioni</a:t>
            </a:r>
            <a:r>
              <a:rPr lang="en-US" sz="1800"/>
              <a:t> </a:t>
            </a:r>
            <a:r>
              <a:rPr lang="en-US" sz="1800" err="1"/>
              <a:t>mezzi</a:t>
            </a:r>
            <a:r>
              <a:rPr lang="en-US" sz="1800"/>
              <a:t> </a:t>
            </a:r>
            <a:r>
              <a:rPr lang="en-US" sz="1800" err="1"/>
              <a:t>puramente</a:t>
            </a:r>
            <a:r>
              <a:rPr lang="en-US" sz="1800"/>
              <a:t> </a:t>
            </a:r>
            <a:r>
              <a:rPr lang="en-US" sz="1800" err="1"/>
              <a:t>Elettrici</a:t>
            </a:r>
            <a:r>
              <a:rPr lang="en-US" sz="1800"/>
              <a:t> (BEV).</a:t>
            </a:r>
            <a:endParaRPr lang="it-IT" sz="1800"/>
          </a:p>
          <a:p>
            <a:r>
              <a:rPr lang="en-US" sz="1800" err="1"/>
              <a:t>Aumento</a:t>
            </a:r>
            <a:r>
              <a:rPr lang="en-US" sz="1800"/>
              <a:t> </a:t>
            </a:r>
            <a:r>
              <a:rPr lang="en-US" sz="1800" err="1"/>
              <a:t>seguito</a:t>
            </a:r>
            <a:r>
              <a:rPr lang="en-US" sz="1800"/>
              <a:t> da calo.</a:t>
            </a:r>
            <a:endParaRPr lang="en-US"/>
          </a:p>
        </p:txBody>
      </p:sp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F5272A3C-7140-3E31-7C49-FDC965791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6" y="1132703"/>
            <a:ext cx="9144001" cy="460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939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EE4ED-70AB-7339-1A2E-33F8704D8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DD7992-9E83-B807-08D3-4353BCFD9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443" y="548640"/>
            <a:ext cx="10752357" cy="594376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Perché il dato è in calo?</a:t>
            </a:r>
            <a:endParaRPr lang="it-IT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F05DE435-242D-1329-6E37-27946F1A8B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9171" y="2004445"/>
            <a:ext cx="2438038" cy="377147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Boom </a:t>
            </a:r>
            <a:r>
              <a:rPr lang="en-US" sz="2000" err="1"/>
              <a:t>iniziale</a:t>
            </a:r>
            <a:r>
              <a:rPr lang="en-US" sz="2000"/>
              <a:t> </a:t>
            </a:r>
            <a:r>
              <a:rPr lang="en-US" sz="2000" err="1"/>
              <a:t>seguito</a:t>
            </a:r>
            <a:r>
              <a:rPr lang="en-US" sz="2000"/>
              <a:t> da </a:t>
            </a:r>
            <a:r>
              <a:rPr lang="en-US" sz="2000" err="1"/>
              <a:t>una</a:t>
            </a:r>
            <a:r>
              <a:rPr lang="en-US" sz="2000"/>
              <a:t> </a:t>
            </a:r>
            <a:r>
              <a:rPr lang="en-US" sz="2000" err="1"/>
              <a:t>stabilizzazione</a:t>
            </a:r>
          </a:p>
          <a:p>
            <a:r>
              <a:rPr lang="en-US" sz="2000" err="1"/>
              <a:t>Analisi</a:t>
            </a:r>
            <a:r>
              <a:rPr lang="en-US" sz="2000"/>
              <a:t> </a:t>
            </a:r>
            <a:r>
              <a:rPr lang="en-US" sz="2000" err="1"/>
              <a:t>dei</a:t>
            </a:r>
            <a:r>
              <a:rPr lang="en-US" sz="2000"/>
              <a:t> </a:t>
            </a:r>
            <a:r>
              <a:rPr lang="en-US" sz="2000" err="1"/>
              <a:t>fattori</a:t>
            </a:r>
            <a:r>
              <a:rPr lang="en-US" sz="2000"/>
              <a:t>: </a:t>
            </a:r>
            <a:r>
              <a:rPr lang="en-US" sz="2000" err="1">
                <a:ea typeface="+mn-lt"/>
                <a:cs typeface="+mn-lt"/>
              </a:rPr>
              <a:t>ritardi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negli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investimenti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burocrazia</a:t>
            </a:r>
            <a:r>
              <a:rPr lang="en-US" sz="2000">
                <a:ea typeface="+mn-lt"/>
                <a:cs typeface="+mn-lt"/>
              </a:rPr>
              <a:t> lenta, </a:t>
            </a:r>
            <a:r>
              <a:rPr lang="en-US" sz="2000" err="1">
                <a:ea typeface="+mn-lt"/>
                <a:cs typeface="+mn-lt"/>
              </a:rPr>
              <a:t>domanda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bassa</a:t>
            </a:r>
            <a:r>
              <a:rPr lang="en-US" sz="2000"/>
              <a:t>.</a:t>
            </a:r>
          </a:p>
        </p:txBody>
      </p:sp>
      <p:pic>
        <p:nvPicPr>
          <p:cNvPr id="3" name="Immagine 2" descr="Immagine che contiene testo, schermata, Diagramm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5EE2C555-29D1-128B-11F1-03A6FA7EBC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2" b="4167"/>
          <a:stretch>
            <a:fillRect/>
          </a:stretch>
        </p:blipFill>
        <p:spPr>
          <a:xfrm>
            <a:off x="3272654" y="1713721"/>
            <a:ext cx="8564613" cy="360777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15805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9BD66-DE4B-71E2-5CFF-1B5466D6A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F79C75-726D-EB46-8117-5C5B2051E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443" y="548640"/>
            <a:ext cx="10707534" cy="616788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Aumentano ma non abbastanza?</a:t>
            </a:r>
            <a:endParaRPr lang="it-IT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28948268-72A0-D4E4-A9F2-FAB0393FD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9171" y="2082887"/>
            <a:ext cx="3536213" cy="34128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>
                <a:ea typeface="+mn-lt"/>
                <a:cs typeface="+mn-lt"/>
              </a:rPr>
              <a:t>La quantità di colonnine dal 2010 ad oggi è indiscutibilmente aumentata, ma non </a:t>
            </a:r>
            <a:r>
              <a:rPr lang="en-US" sz="2000" err="1">
                <a:ea typeface="+mn-lt"/>
                <a:cs typeface="+mn-lt"/>
              </a:rPr>
              <a:t>abbastanza</a:t>
            </a:r>
            <a:r>
              <a:rPr lang="en-US" sz="2000">
                <a:ea typeface="+mn-lt"/>
                <a:cs typeface="+mn-lt"/>
              </a:rPr>
              <a:t> da </a:t>
            </a:r>
            <a:r>
              <a:rPr lang="en-US" sz="2000" err="1">
                <a:ea typeface="+mn-lt"/>
                <a:cs typeface="+mn-lt"/>
              </a:rPr>
              <a:t>garantire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agli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utenti</a:t>
            </a:r>
            <a:r>
              <a:rPr lang="en-US" sz="2000">
                <a:ea typeface="+mn-lt"/>
                <a:cs typeface="+mn-lt"/>
              </a:rPr>
              <a:t> la </a:t>
            </a:r>
            <a:r>
              <a:rPr lang="en-US" sz="2000" err="1">
                <a:ea typeface="+mn-lt"/>
                <a:cs typeface="+mn-lt"/>
              </a:rPr>
              <a:t>certezza</a:t>
            </a:r>
            <a:r>
              <a:rPr lang="en-US" sz="2000">
                <a:ea typeface="+mn-lt"/>
                <a:cs typeface="+mn-lt"/>
              </a:rPr>
              <a:t> di </a:t>
            </a:r>
            <a:r>
              <a:rPr lang="en-US" sz="2000" err="1">
                <a:ea typeface="+mn-lt"/>
                <a:cs typeface="+mn-lt"/>
              </a:rPr>
              <a:t>ricaricare</a:t>
            </a:r>
            <a:r>
              <a:rPr lang="en-US" sz="2000">
                <a:ea typeface="+mn-lt"/>
                <a:cs typeface="+mn-lt"/>
              </a:rPr>
              <a:t> la propria vettura.</a:t>
            </a:r>
          </a:p>
        </p:txBody>
      </p:sp>
      <p:pic>
        <p:nvPicPr>
          <p:cNvPr id="4" name="Immagine 3" descr="A group of colorful circles with black text&#10;&#10;AI-generated content may be incorrect.">
            <a:extLst>
              <a:ext uri="{FF2B5EF4-FFF2-40B4-BE49-F238E27FC236}">
                <a16:creationId xmlns:a16="http://schemas.microsoft.com/office/drawing/2014/main" id="{44B13A9F-C951-0449-1CB5-9A22F8C66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862" y="1513700"/>
            <a:ext cx="6128613" cy="479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167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A3DD1-7BF7-AA7A-3422-93B70BA2A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9EBED4-EFDD-70F1-C7BC-87B9D4A3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583170"/>
          </a:xfrm>
        </p:spPr>
        <p:txBody>
          <a:bodyPr anchor="ctr">
            <a:normAutofit/>
          </a:bodyPr>
          <a:lstStyle/>
          <a:p>
            <a:pPr algn="ctr"/>
            <a:r>
              <a:rPr lang="it-IT" sz="2900" b="1"/>
              <a:t>Numero di colonnine in Europa</a:t>
            </a:r>
            <a:endParaRPr lang="it-IT"/>
          </a:p>
        </p:txBody>
      </p:sp>
      <p:pic>
        <p:nvPicPr>
          <p:cNvPr id="5" name="Picture 4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637F165F-18CC-FDD5-C22C-7FD055BC6A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810"/>
          <a:stretch>
            <a:fillRect/>
          </a:stretch>
        </p:blipFill>
        <p:spPr>
          <a:xfrm>
            <a:off x="1166362" y="1234441"/>
            <a:ext cx="9522076" cy="507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31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52FE-ED21-4B50-1A29-DD0F02D3F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FA7DA3-A7FB-FD51-25BC-FE4BC7798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4744" y="458433"/>
            <a:ext cx="8180043" cy="1600200"/>
          </a:xfrm>
        </p:spPr>
        <p:txBody>
          <a:bodyPr anchor="t">
            <a:normAutofit/>
          </a:bodyPr>
          <a:lstStyle/>
          <a:p>
            <a:r>
              <a:rPr lang="it-IT" b="1"/>
              <a:t>La situazione in </a:t>
            </a:r>
            <a:r>
              <a:rPr lang="it-IT"/>
              <a:t>Italia - </a:t>
            </a:r>
            <a:r>
              <a:rPr lang="it-IT" err="1"/>
              <a:t>bev</a:t>
            </a:r>
            <a:endParaRPr lang="it-IT" b="1" err="1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F3760B6-8866-1C8D-7F6D-583CA1ADC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3464" y="2049792"/>
            <a:ext cx="3129432" cy="269914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/>
              <a:t>In Italia la </a:t>
            </a:r>
            <a:r>
              <a:rPr lang="en-US" sz="2000" err="1"/>
              <a:t>situazione</a:t>
            </a:r>
            <a:r>
              <a:rPr lang="en-US" sz="2000"/>
              <a:t> segue il trend </a:t>
            </a:r>
            <a:r>
              <a:rPr lang="en-US" sz="2000" err="1"/>
              <a:t>europeo</a:t>
            </a:r>
            <a:r>
              <a:rPr lang="en-US" sz="2000"/>
              <a:t>.</a:t>
            </a:r>
          </a:p>
          <a:p>
            <a:pPr>
              <a:lnSpc>
                <a:spcPct val="100000"/>
              </a:lnSpc>
            </a:pPr>
            <a:r>
              <a:rPr lang="en-US" sz="2000"/>
              <a:t>Per </a:t>
            </a:r>
            <a:r>
              <a:rPr lang="en-US" sz="2000" err="1"/>
              <a:t>analizzare</a:t>
            </a:r>
            <a:r>
              <a:rPr lang="en-US" sz="2000"/>
              <a:t> </a:t>
            </a:r>
            <a:r>
              <a:rPr lang="en-US" sz="2000" err="1"/>
              <a:t>più</a:t>
            </a:r>
            <a:r>
              <a:rPr lang="en-US" sz="2000"/>
              <a:t> </a:t>
            </a:r>
            <a:r>
              <a:rPr lang="en-US" sz="2000" err="1"/>
              <a:t>nello</a:t>
            </a:r>
            <a:r>
              <a:rPr lang="en-US" sz="2000"/>
              <a:t> </a:t>
            </a:r>
            <a:r>
              <a:rPr lang="en-US" sz="2000" err="1"/>
              <a:t>specifico</a:t>
            </a:r>
            <a:r>
              <a:rPr lang="en-US" sz="2000"/>
              <a:t> </a:t>
            </a:r>
            <a:r>
              <a:rPr lang="en-US" sz="2000" err="1"/>
              <a:t>abbiamo</a:t>
            </a:r>
            <a:r>
              <a:rPr lang="en-US" sz="2000"/>
              <a:t> </a:t>
            </a:r>
            <a:r>
              <a:rPr lang="en-US" sz="2000" err="1"/>
              <a:t>categorizzato</a:t>
            </a:r>
            <a:r>
              <a:rPr lang="en-US" sz="2000"/>
              <a:t> la </a:t>
            </a:r>
            <a:r>
              <a:rPr lang="en-US" sz="2000" err="1"/>
              <a:t>situazione</a:t>
            </a:r>
            <a:r>
              <a:rPr lang="en-US" sz="2000"/>
              <a:t> </a:t>
            </a:r>
            <a:r>
              <a:rPr lang="en-US" sz="2000" err="1"/>
              <a:t>facendo</a:t>
            </a:r>
            <a:r>
              <a:rPr lang="en-US" sz="2000"/>
              <a:t> </a:t>
            </a:r>
            <a:r>
              <a:rPr lang="en-US" sz="2000" err="1"/>
              <a:t>una</a:t>
            </a:r>
            <a:r>
              <a:rPr lang="en-US" sz="2000"/>
              <a:t> </a:t>
            </a:r>
            <a:r>
              <a:rPr lang="en-US" sz="2000" err="1"/>
              <a:t>distinzione</a:t>
            </a:r>
            <a:r>
              <a:rPr lang="en-US" sz="2000"/>
              <a:t> </a:t>
            </a:r>
            <a:r>
              <a:rPr lang="en-US" sz="2000" err="1"/>
              <a:t>tra</a:t>
            </a:r>
            <a:r>
              <a:rPr lang="en-US" sz="2000"/>
              <a:t> Nord, Centro, Sud e </a:t>
            </a:r>
            <a:r>
              <a:rPr lang="en-US" sz="2000" err="1"/>
              <a:t>Isole</a:t>
            </a:r>
            <a:r>
              <a:rPr lang="en-US" sz="2000"/>
              <a:t>.</a:t>
            </a:r>
          </a:p>
        </p:txBody>
      </p:sp>
      <p:pic>
        <p:nvPicPr>
          <p:cNvPr id="4" name="Picture 3" descr="A graph of the number of cars&#10;&#10;AI-generated content may be incorrect.">
            <a:extLst>
              <a:ext uri="{FF2B5EF4-FFF2-40B4-BE49-F238E27FC236}">
                <a16:creationId xmlns:a16="http://schemas.microsoft.com/office/drawing/2014/main" id="{7AE70909-7623-D6D6-BBE5-8A9A0D0E7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79" y="1427076"/>
            <a:ext cx="8690463" cy="430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76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olo 1">
            <a:extLst>
              <a:ext uri="{FF2B5EF4-FFF2-40B4-BE49-F238E27FC236}">
                <a16:creationId xmlns:a16="http://schemas.microsoft.com/office/drawing/2014/main" id="{399DFA3A-4E2C-08EC-A755-F6C8BEE69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6545" y="439541"/>
            <a:ext cx="8734225" cy="1600200"/>
          </a:xfrm>
        </p:spPr>
        <p:txBody>
          <a:bodyPr anchor="t">
            <a:normAutofit/>
          </a:bodyPr>
          <a:lstStyle/>
          <a:p>
            <a:r>
              <a:rPr lang="it-IT" b="1"/>
              <a:t>La situazione in </a:t>
            </a:r>
            <a:r>
              <a:rPr lang="it-IT"/>
              <a:t>Italia – </a:t>
            </a:r>
            <a:r>
              <a:rPr lang="it-IT" err="1"/>
              <a:t>phev</a:t>
            </a:r>
            <a:endParaRPr lang="it-IT" b="1" err="1"/>
          </a:p>
        </p:txBody>
      </p:sp>
      <p:pic>
        <p:nvPicPr>
          <p:cNvPr id="3" name="Picture 2" descr="A graph of a number of cars&#10;&#10;AI-generated content may be incorrect.">
            <a:extLst>
              <a:ext uri="{FF2B5EF4-FFF2-40B4-BE49-F238E27FC236}">
                <a16:creationId xmlns:a16="http://schemas.microsoft.com/office/drawing/2014/main" id="{87248B84-2CE5-DD53-A634-157C6FA503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2" b="3891"/>
          <a:stretch>
            <a:fillRect/>
          </a:stretch>
        </p:blipFill>
        <p:spPr>
          <a:xfrm>
            <a:off x="701117" y="1233465"/>
            <a:ext cx="10679818" cy="505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469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A95B62C-B295-6416-20E7-F57CA9599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7438" y="390315"/>
            <a:ext cx="7964609" cy="1438450"/>
          </a:xfrm>
        </p:spPr>
        <p:txBody>
          <a:bodyPr/>
          <a:lstStyle/>
          <a:p>
            <a:pPr algn="ctr"/>
            <a:r>
              <a:rPr lang="en-US" b="1"/>
              <a:t>CRESCITA PERCENTUALE PHEV VS BEV</a:t>
            </a:r>
            <a:endParaRPr lang="it-IT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01C11-FF4A-6657-573C-9A93E9E3B5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454"/>
          <a:stretch>
            <a:fillRect/>
          </a:stretch>
        </p:blipFill>
        <p:spPr>
          <a:xfrm>
            <a:off x="1516170" y="1988819"/>
            <a:ext cx="9206810" cy="435864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66965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38E65400-2887-A2F8-29EF-B598ED083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61" y="365125"/>
            <a:ext cx="10357666" cy="1438450"/>
          </a:xfrm>
        </p:spPr>
        <p:txBody>
          <a:bodyPr/>
          <a:lstStyle/>
          <a:p>
            <a:pPr algn="ctr"/>
            <a:r>
              <a:rPr lang="en-US" b="1"/>
              <a:t>TREND </a:t>
            </a:r>
            <a:r>
              <a:rPr lang="en-US" b="1" err="1"/>
              <a:t>dI</a:t>
            </a:r>
            <a:r>
              <a:rPr lang="en-US" b="1"/>
              <a:t> CRESCITA AUTO CIRCOLANTI PHEV VS BEV</a:t>
            </a:r>
            <a:endParaRPr lang="it-IT" b="1"/>
          </a:p>
        </p:txBody>
      </p:sp>
      <p:pic>
        <p:nvPicPr>
          <p:cNvPr id="6" name="Picture 5" descr="A graph of a number of cars&#10;&#10;AI-generated content may be incorrect.">
            <a:extLst>
              <a:ext uri="{FF2B5EF4-FFF2-40B4-BE49-F238E27FC236}">
                <a16:creationId xmlns:a16="http://schemas.microsoft.com/office/drawing/2014/main" id="{0E0E00AB-BFC6-22FF-DD5C-8AA2736E9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887" y="1798886"/>
            <a:ext cx="9221512" cy="493347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181507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8AE82-9A5D-61B9-BF56-3FFBFCCCB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616788"/>
          </a:xfrm>
        </p:spPr>
        <p:txBody>
          <a:bodyPr/>
          <a:lstStyle/>
          <a:p>
            <a:pPr algn="ctr"/>
            <a:r>
              <a:rPr lang="en-US" sz="2900" b="1" err="1"/>
              <a:t>Leggi</a:t>
            </a:r>
            <a:r>
              <a:rPr lang="en-US" sz="2900" b="1"/>
              <a:t> e </a:t>
            </a:r>
            <a:r>
              <a:rPr lang="en-US" sz="2900" b="1" err="1"/>
              <a:t>incentivi</a:t>
            </a:r>
            <a:r>
              <a:rPr lang="en-US" sz="2900" b="1"/>
              <a:t> in </a:t>
            </a:r>
            <a:r>
              <a:rPr lang="en-US" sz="2900" b="1" err="1"/>
              <a:t>italia</a:t>
            </a:r>
            <a:endParaRPr lang="en-US" sz="29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9CE0-7C07-2FFD-1FBC-D224C05CC1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28600"/>
            <a:r>
              <a:rPr lang="en-US" sz="2400"/>
              <a:t>Trend </a:t>
            </a:r>
            <a:r>
              <a:rPr lang="en-US" sz="2400" err="1"/>
              <a:t>italiano</a:t>
            </a:r>
            <a:r>
              <a:rPr lang="en-US" sz="2400"/>
              <a:t>:</a:t>
            </a:r>
          </a:p>
          <a:p>
            <a:pPr marL="228600" lvl="1"/>
            <a:r>
              <a:rPr lang="en-US" sz="2000" err="1">
                <a:latin typeface="Calibri"/>
                <a:ea typeface="Calibri"/>
                <a:cs typeface="Calibri"/>
              </a:rPr>
              <a:t>Positivo</a:t>
            </a:r>
            <a:r>
              <a:rPr lang="en-US" sz="2000">
                <a:latin typeface="Calibri"/>
                <a:ea typeface="Calibri"/>
                <a:cs typeface="Calibri"/>
              </a:rPr>
              <a:t> </a:t>
            </a:r>
            <a:r>
              <a:rPr lang="en-US">
                <a:latin typeface="Calibri"/>
                <a:ea typeface="Calibri"/>
                <a:cs typeface="Calibri"/>
              </a:rPr>
              <a:t>--&gt; </a:t>
            </a:r>
            <a:r>
              <a:rPr lang="en-US" sz="2000" err="1">
                <a:ea typeface="+mn-lt"/>
                <a:cs typeface="+mn-lt"/>
              </a:rPr>
              <a:t>Crescita</a:t>
            </a:r>
            <a:r>
              <a:rPr lang="en-US" sz="2000">
                <a:ea typeface="+mn-lt"/>
                <a:cs typeface="+mn-lt"/>
              </a:rPr>
              <a:t> auto EV/</a:t>
            </a:r>
            <a:r>
              <a:rPr lang="en-US" sz="2000" err="1">
                <a:ea typeface="+mn-lt"/>
                <a:cs typeface="+mn-lt"/>
              </a:rPr>
              <a:t>ibride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trainata</a:t>
            </a:r>
            <a:r>
              <a:rPr lang="en-US" sz="2000">
                <a:ea typeface="+mn-lt"/>
                <a:cs typeface="+mn-lt"/>
              </a:rPr>
              <a:t> da </a:t>
            </a:r>
            <a:r>
              <a:rPr lang="en-US" sz="2000" err="1">
                <a:ea typeface="+mn-lt"/>
                <a:cs typeface="+mn-lt"/>
              </a:rPr>
              <a:t>incentivi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statali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Ecobonus</a:t>
            </a:r>
            <a:r>
              <a:rPr lang="en-US" sz="2000">
                <a:ea typeface="+mn-lt"/>
                <a:cs typeface="+mn-lt"/>
              </a:rPr>
              <a:t> 2022-2023). Bonus </a:t>
            </a:r>
            <a:r>
              <a:rPr lang="en-US" sz="2000" err="1">
                <a:ea typeface="+mn-lt"/>
                <a:cs typeface="+mn-lt"/>
              </a:rPr>
              <a:t>acquisto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veicoli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elettrici</a:t>
            </a:r>
            <a:r>
              <a:rPr lang="en-US" sz="2000">
                <a:ea typeface="+mn-lt"/>
                <a:cs typeface="+mn-lt"/>
              </a:rPr>
              <a:t> + </a:t>
            </a:r>
            <a:r>
              <a:rPr lang="en-US" sz="2000" err="1">
                <a:ea typeface="+mn-lt"/>
                <a:cs typeface="+mn-lt"/>
              </a:rPr>
              <a:t>crediti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d'imposta</a:t>
            </a:r>
            <a:r>
              <a:rPr lang="en-US" sz="2000">
                <a:ea typeface="+mn-lt"/>
                <a:cs typeface="+mn-lt"/>
              </a:rPr>
              <a:t> per </a:t>
            </a:r>
            <a:r>
              <a:rPr lang="en-US" sz="2000" err="1">
                <a:ea typeface="+mn-lt"/>
                <a:cs typeface="+mn-lt"/>
              </a:rPr>
              <a:t>colonnine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domestiche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aziendali</a:t>
            </a:r>
            <a:r>
              <a:rPr lang="en-US" sz="2000">
                <a:ea typeface="+mn-lt"/>
                <a:cs typeface="+mn-lt"/>
              </a:rPr>
              <a:t> </a:t>
            </a:r>
          </a:p>
          <a:p>
            <a:pPr marL="228600" lvl="1"/>
            <a:r>
              <a:rPr lang="en-US" sz="2000" err="1">
                <a:latin typeface="Calibri"/>
                <a:ea typeface="Calibri"/>
                <a:cs typeface="Calibri"/>
              </a:rPr>
              <a:t>Negativo</a:t>
            </a:r>
            <a:r>
              <a:rPr lang="en-US" sz="2000">
                <a:latin typeface="Calibri"/>
                <a:ea typeface="Calibri"/>
                <a:cs typeface="Calibri"/>
              </a:rPr>
              <a:t> </a:t>
            </a:r>
            <a:r>
              <a:rPr lang="en-US">
                <a:latin typeface="Calibri"/>
                <a:ea typeface="Calibri"/>
                <a:cs typeface="Calibri"/>
              </a:rPr>
              <a:t>--&gt;</a:t>
            </a:r>
            <a:r>
              <a:rPr lang="en-US" sz="2000">
                <a:latin typeface="Calibri"/>
                <a:ea typeface="Calibri"/>
                <a:cs typeface="Calibri"/>
              </a:rPr>
              <a:t> </a:t>
            </a:r>
            <a:r>
              <a:rPr lang="en-US" sz="2000">
                <a:ea typeface="+mn-lt"/>
                <a:cs typeface="+mn-lt"/>
              </a:rPr>
              <a:t>Fine </a:t>
            </a:r>
            <a:r>
              <a:rPr lang="en-US" sz="2000" err="1">
                <a:ea typeface="+mn-lt"/>
                <a:cs typeface="+mn-lt"/>
              </a:rPr>
              <a:t>Ecobonus</a:t>
            </a:r>
            <a:r>
              <a:rPr lang="en-US" sz="2000">
                <a:ea typeface="+mn-lt"/>
                <a:cs typeface="+mn-lt"/>
              </a:rPr>
              <a:t> auto → calo </a:t>
            </a:r>
            <a:r>
              <a:rPr lang="en-US" sz="2000" err="1">
                <a:ea typeface="+mn-lt"/>
                <a:cs typeface="+mn-lt"/>
              </a:rPr>
              <a:t>vendite</a:t>
            </a:r>
            <a:r>
              <a:rPr lang="en-US" sz="2000">
                <a:ea typeface="+mn-lt"/>
                <a:cs typeface="+mn-lt"/>
              </a:rPr>
              <a:t> EV del 15-20% </a:t>
            </a:r>
            <a:r>
              <a:rPr lang="en-US" sz="2000" err="1">
                <a:ea typeface="+mn-lt"/>
                <a:cs typeface="+mn-lt"/>
              </a:rPr>
              <a:t>nel</a:t>
            </a:r>
            <a:r>
              <a:rPr lang="en-US" sz="2000">
                <a:ea typeface="+mn-lt"/>
                <a:cs typeface="+mn-lt"/>
              </a:rPr>
              <a:t> 2024-2025; </a:t>
            </a:r>
            <a:r>
              <a:rPr lang="en-US" sz="2000" err="1">
                <a:ea typeface="+mn-lt"/>
                <a:cs typeface="+mn-lt"/>
              </a:rPr>
              <a:t>ritardi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infrastrutture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pubbliche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  <a:p>
            <a:pPr marL="228600" lvl="1"/>
            <a:r>
              <a:rPr lang="en-US" sz="2000" err="1">
                <a:latin typeface="Calibri"/>
                <a:ea typeface="Calibri"/>
                <a:cs typeface="Calibri"/>
              </a:rPr>
              <a:t>Negativo</a:t>
            </a:r>
            <a:r>
              <a:rPr lang="en-US" sz="2000">
                <a:latin typeface="Calibri"/>
                <a:ea typeface="Calibri"/>
                <a:cs typeface="Calibri"/>
              </a:rPr>
              <a:t> </a:t>
            </a:r>
            <a:r>
              <a:rPr lang="en-US">
                <a:latin typeface="Calibri"/>
                <a:ea typeface="Calibri"/>
                <a:cs typeface="Calibri"/>
              </a:rPr>
              <a:t>--&gt; </a:t>
            </a:r>
            <a:r>
              <a:rPr lang="en-US" sz="2000">
                <a:ea typeface="+mn-lt"/>
                <a:cs typeface="+mn-lt"/>
              </a:rPr>
              <a:t>Rete </a:t>
            </a:r>
            <a:r>
              <a:rPr lang="en-US" sz="2000" err="1">
                <a:ea typeface="+mn-lt"/>
                <a:cs typeface="+mn-lt"/>
              </a:rPr>
              <a:t>colonnine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insufficiente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nonostante</a:t>
            </a:r>
            <a:r>
              <a:rPr lang="en-US" sz="2000">
                <a:ea typeface="+mn-lt"/>
                <a:cs typeface="+mn-lt"/>
              </a:rPr>
              <a:t> boom </a:t>
            </a:r>
            <a:r>
              <a:rPr lang="en-US" sz="2000" err="1">
                <a:ea typeface="+mn-lt"/>
                <a:cs typeface="+mn-lt"/>
              </a:rPr>
              <a:t>installazioni</a:t>
            </a:r>
            <a:r>
              <a:rPr lang="en-US" sz="2000">
                <a:ea typeface="+mn-lt"/>
                <a:cs typeface="+mn-lt"/>
              </a:rPr>
              <a:t> private) per </a:t>
            </a:r>
            <a:r>
              <a:rPr lang="en-US" sz="2000" err="1">
                <a:ea typeface="+mn-lt"/>
                <a:cs typeface="+mn-lt"/>
              </a:rPr>
              <a:t>supportare</a:t>
            </a:r>
            <a:r>
              <a:rPr lang="en-US" sz="2000">
                <a:ea typeface="+mn-lt"/>
                <a:cs typeface="+mn-lt"/>
              </a:rPr>
              <a:t> target UE 2030.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5424029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98A53-38A1-2812-DF7A-11BC2D2EE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Confronto</a:t>
            </a:r>
            <a:r>
              <a:rPr lang="en-US"/>
              <a:t> Nord Centro Sud</a:t>
            </a:r>
          </a:p>
        </p:txBody>
      </p:sp>
      <p:pic>
        <p:nvPicPr>
          <p:cNvPr id="4" name="Segnaposto contenuto 3" descr="Immagine che contiene testo, schermata, Diagramm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FECD61F1-816D-0B15-E6BE-682897152F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9075" y="2277193"/>
            <a:ext cx="8435108" cy="4191296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A24E2F76-1DAA-BF42-09FE-BA901186EF17}"/>
              </a:ext>
            </a:extLst>
          </p:cNvPr>
          <p:cNvSpPr txBox="1"/>
          <p:nvPr/>
        </p:nvSpPr>
        <p:spPr>
          <a:xfrm>
            <a:off x="649344" y="2982226"/>
            <a:ext cx="2647757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Come si può notare la differenza di numero di auto elettriche tra Nord, Centro e Sud sono molto rilevanti.</a:t>
            </a:r>
          </a:p>
        </p:txBody>
      </p:sp>
    </p:spTree>
    <p:extLst>
      <p:ext uri="{BB962C8B-B14F-4D97-AF65-F5344CB8AC3E}">
        <p14:creationId xmlns:p14="http://schemas.microsoft.com/office/powerpoint/2010/main" val="2571486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47030-292C-8181-4945-09928DFCD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kern="1200" cap="all" spc="700" baseline="0">
                <a:latin typeface="+mn-lt"/>
                <a:ea typeface="+mj-ea"/>
                <a:cs typeface="+mj-cs"/>
              </a:rPr>
              <a:t>Confronto</a:t>
            </a:r>
            <a:br>
              <a:rPr lang="en-US" b="1" kern="1200" cap="all" spc="700" baseline="0">
                <a:latin typeface="+mn-lt"/>
                <a:ea typeface="+mj-ea"/>
                <a:cs typeface="+mj-cs"/>
              </a:rPr>
            </a:br>
            <a:r>
              <a:rPr lang="en-US" b="1" kern="1200" cap="all" spc="700" baseline="0">
                <a:latin typeface="+mn-lt"/>
                <a:ea typeface="+mj-ea"/>
                <a:cs typeface="+mj-cs"/>
              </a:rPr>
              <a:t>regionale</a:t>
            </a:r>
          </a:p>
        </p:txBody>
      </p:sp>
      <p:pic>
        <p:nvPicPr>
          <p:cNvPr id="15" name="Immagine 14" descr="Immagine che contiene testo, schermata, numero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6FF1BFA8-0383-4855-C1AF-77B93718B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038" y="586877"/>
            <a:ext cx="7130834" cy="5682416"/>
          </a:xfrm>
          <a:prstGeom prst="rect">
            <a:avLst/>
          </a:prstGeom>
          <a:noFill/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6C9D51F-122A-CFFA-BFE1-A16F332521A4}"/>
              </a:ext>
            </a:extLst>
          </p:cNvPr>
          <p:cNvSpPr txBox="1"/>
          <p:nvPr/>
        </p:nvSpPr>
        <p:spPr>
          <a:xfrm>
            <a:off x="739028" y="2585762"/>
            <a:ext cx="3932237" cy="312737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  <a:buSzPct val="85000"/>
            </a:pPr>
            <a:r>
              <a:rPr lang="en-US" sz="2000" kern="1200">
                <a:latin typeface="+mn-lt"/>
                <a:ea typeface="+mn-ea"/>
                <a:cs typeface="+mn-cs"/>
              </a:rPr>
              <a:t>Nello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specifico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attraverso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questo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istogramma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si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può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notare</a:t>
            </a:r>
            <a:r>
              <a:rPr lang="en-US" sz="2000" kern="1200">
                <a:latin typeface="+mn-lt"/>
                <a:ea typeface="+mn-ea"/>
                <a:cs typeface="+mn-cs"/>
              </a:rPr>
              <a:t> il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numero</a:t>
            </a:r>
            <a:r>
              <a:rPr lang="en-US" sz="2000" kern="1200">
                <a:latin typeface="+mn-lt"/>
                <a:ea typeface="+mn-ea"/>
                <a:cs typeface="+mn-cs"/>
              </a:rPr>
              <a:t> di auto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elettriche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presenti</a:t>
            </a:r>
            <a:r>
              <a:rPr lang="en-US" sz="2000" kern="1200">
                <a:latin typeface="+mn-lt"/>
                <a:ea typeface="+mn-ea"/>
                <a:cs typeface="+mn-cs"/>
              </a:rPr>
              <a:t> in ogni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regione</a:t>
            </a:r>
            <a:r>
              <a:rPr lang="en-US" sz="2000" kern="1200">
                <a:latin typeface="+mn-lt"/>
                <a:ea typeface="+mn-ea"/>
                <a:cs typeface="+mn-cs"/>
              </a:rPr>
              <a:t>.</a:t>
            </a:r>
            <a:endParaRPr lang="en-US" sz="2000" kern="1200">
              <a:latin typeface="+mn-lt"/>
            </a:endParaRPr>
          </a:p>
          <a:p>
            <a:pPr>
              <a:lnSpc>
                <a:spcPct val="130000"/>
              </a:lnSpc>
              <a:spcBef>
                <a:spcPts val="1000"/>
              </a:spcBef>
              <a:buSzPct val="85000"/>
            </a:pPr>
            <a:r>
              <a:rPr lang="en-US" sz="2000" kern="1200" err="1">
                <a:latin typeface="+mn-lt"/>
                <a:ea typeface="+mn-ea"/>
                <a:cs typeface="+mn-cs"/>
              </a:rPr>
              <a:t>Ciò</a:t>
            </a:r>
            <a:r>
              <a:rPr lang="en-US" sz="2000" kern="1200">
                <a:latin typeface="+mn-lt"/>
                <a:ea typeface="+mn-ea"/>
                <a:cs typeface="+mn-cs"/>
              </a:rPr>
              <a:t> influenza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anche</a:t>
            </a:r>
            <a:r>
              <a:rPr lang="en-US" sz="2000" kern="1200">
                <a:latin typeface="+mn-lt"/>
                <a:ea typeface="+mn-ea"/>
                <a:cs typeface="+mn-cs"/>
              </a:rPr>
              <a:t> la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presenza</a:t>
            </a:r>
            <a:r>
              <a:rPr lang="en-US" sz="2000" kern="1200">
                <a:latin typeface="+mn-lt"/>
                <a:ea typeface="+mn-ea"/>
                <a:cs typeface="+mn-cs"/>
              </a:rPr>
              <a:t> di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colonnine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elettriche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nel</a:t>
            </a:r>
            <a:r>
              <a:rPr lang="en-US" sz="2000" kern="1200">
                <a:latin typeface="+mn-lt"/>
                <a:ea typeface="+mn-ea"/>
                <a:cs typeface="+mn-cs"/>
              </a:rPr>
              <a:t> </a:t>
            </a:r>
            <a:r>
              <a:rPr lang="en-US" sz="2000" kern="1200" err="1">
                <a:latin typeface="+mn-lt"/>
                <a:ea typeface="+mn-ea"/>
                <a:cs typeface="+mn-cs"/>
              </a:rPr>
              <a:t>territorio</a:t>
            </a:r>
            <a:r>
              <a:rPr lang="en-US" sz="2000" kern="1200">
                <a:latin typeface="+mn-lt"/>
                <a:ea typeface="+mn-ea"/>
                <a:cs typeface="+mn-cs"/>
              </a:rPr>
              <a:t>?</a:t>
            </a:r>
            <a:endParaRPr lang="en-US" sz="2000" kern="120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360541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8B0E-5F52-319F-599E-45DEDDE5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015" y="365125"/>
            <a:ext cx="11305281" cy="1438450"/>
          </a:xfrm>
        </p:spPr>
        <p:txBody>
          <a:bodyPr/>
          <a:lstStyle/>
          <a:p>
            <a:pPr algn="ctr"/>
            <a:r>
              <a:rPr lang="en-US" b="1" err="1"/>
              <a:t>Evoluzione</a:t>
            </a:r>
            <a:r>
              <a:rPr lang="en-US" b="1"/>
              <a:t> </a:t>
            </a:r>
            <a:r>
              <a:rPr lang="en-US" b="1" err="1"/>
              <a:t>colonnine</a:t>
            </a:r>
            <a:r>
              <a:rPr lang="en-US" b="1"/>
              <a:t> di </a:t>
            </a:r>
            <a:r>
              <a:rPr lang="en-US" b="1" err="1"/>
              <a:t>ricarica</a:t>
            </a:r>
            <a:r>
              <a:rPr lang="en-US" b="1"/>
              <a:t> in </a:t>
            </a:r>
            <a:r>
              <a:rPr lang="en-US" b="1" err="1"/>
              <a:t>italia</a:t>
            </a:r>
            <a:endParaRPr lang="en-US" b="1"/>
          </a:p>
        </p:txBody>
      </p:sp>
      <p:pic>
        <p:nvPicPr>
          <p:cNvPr id="7" name="Content Placeholder 6" descr="A map of italy with a number&#10;&#10;AI-generated content may be incorrect.">
            <a:extLst>
              <a:ext uri="{FF2B5EF4-FFF2-40B4-BE49-F238E27FC236}">
                <a16:creationId xmlns:a16="http://schemas.microsoft.com/office/drawing/2014/main" id="{6DFC7134-6BF2-68F8-DFC0-8AB51DDD16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53450" y="2020965"/>
            <a:ext cx="3841141" cy="45439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879870-2EF9-A367-CB2A-D9D0E57809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8" t="1005" r="1775" b="754"/>
          <a:stretch>
            <a:fillRect/>
          </a:stretch>
        </p:blipFill>
        <p:spPr>
          <a:xfrm>
            <a:off x="9890435" y="2012771"/>
            <a:ext cx="915203" cy="453965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077D1C79-C907-F0DC-9D03-631B78EAC299}"/>
              </a:ext>
            </a:extLst>
          </p:cNvPr>
          <p:cNvSpPr txBox="1"/>
          <p:nvPr/>
        </p:nvSpPr>
        <p:spPr>
          <a:xfrm>
            <a:off x="1020198" y="2462330"/>
            <a:ext cx="4055604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it-IT" sz="2000"/>
              <a:t>La risposta è ovviamente sì, in quanto nelle regioni in cui vi sono più auto elettriche, hanno presenti una maggior quantità anche di colonnine per la ricarica.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349808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4CC1A2-2DD0-CBC8-0571-9BAC2A0B6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19" y="402910"/>
            <a:ext cx="10357666" cy="1438450"/>
          </a:xfrm>
        </p:spPr>
        <p:txBody>
          <a:bodyPr>
            <a:normAutofit/>
          </a:bodyPr>
          <a:lstStyle/>
          <a:p>
            <a:pPr algn="ctr"/>
            <a:r>
              <a:rPr lang="it-IT" sz="4000" b="1">
                <a:latin typeface="Avenir Next LT Pro"/>
              </a:rPr>
              <a:t>GRAZIE PER L'ATTENZIONE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D8CCAA-1943-D9BA-454A-FAC9EEDD7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it-IT" sz="2500"/>
              <a:t>GitHub: </a:t>
            </a:r>
            <a:r>
              <a:rPr lang="it-IT" sz="2500">
                <a:ea typeface="+mj-lt"/>
                <a:cs typeface="+mj-lt"/>
                <a:hlinkClick r:id="rId2"/>
              </a:rPr>
              <a:t>github.com/MarcoB27/</a:t>
            </a:r>
            <a:r>
              <a:rPr lang="it-IT" sz="2500" err="1">
                <a:ea typeface="+mj-lt"/>
                <a:cs typeface="+mj-lt"/>
                <a:hlinkClick r:id="rId2"/>
              </a:rPr>
              <a:t>data_visualization</a:t>
            </a:r>
            <a:endParaRPr lang="it-IT" sz="2500" err="1">
              <a:ea typeface="+mj-lt"/>
              <a:cs typeface="+mj-lt"/>
            </a:endParaRPr>
          </a:p>
          <a:p>
            <a:pPr marL="0" indent="0" algn="ctr">
              <a:buNone/>
            </a:pPr>
            <a:endParaRPr lang="it-IT"/>
          </a:p>
          <a:p>
            <a:pPr marL="0" indent="0" algn="ctr">
              <a:buNone/>
            </a:pPr>
            <a:r>
              <a:rPr lang="it-IT"/>
              <a:t>Bellante Marco 26103A</a:t>
            </a:r>
          </a:p>
          <a:p>
            <a:pPr marL="0" indent="0" algn="ctr">
              <a:buNone/>
            </a:pPr>
            <a:r>
              <a:rPr lang="it-IT" err="1"/>
              <a:t>Corroppoli</a:t>
            </a:r>
            <a:r>
              <a:rPr lang="it-IT"/>
              <a:t> Fabio Aurelio </a:t>
            </a:r>
            <a:r>
              <a:rPr lang="it-IT" sz="1800">
                <a:latin typeface="Avenir Next LT Pro"/>
              </a:rPr>
              <a:t>51584A</a:t>
            </a:r>
          </a:p>
          <a:p>
            <a:pPr marL="0" indent="0" algn="ctr">
              <a:buNone/>
            </a:pPr>
            <a:r>
              <a:rPr lang="it-IT" err="1"/>
              <a:t>Vitofregno</a:t>
            </a:r>
            <a:r>
              <a:rPr lang="it-IT"/>
              <a:t> Matteo </a:t>
            </a:r>
            <a:r>
              <a:rPr lang="it-IT" sz="1800">
                <a:latin typeface="Avenir Next LT Pro"/>
              </a:rPr>
              <a:t>32788A</a:t>
            </a:r>
          </a:p>
        </p:txBody>
      </p:sp>
    </p:spTree>
    <p:extLst>
      <p:ext uri="{BB962C8B-B14F-4D97-AF65-F5344CB8AC3E}">
        <p14:creationId xmlns:p14="http://schemas.microsoft.com/office/powerpoint/2010/main" val="2912784098"/>
      </p:ext>
    </p:extLst>
  </p:cSld>
  <p:clrMapOvr>
    <a:masterClrMapping/>
  </p:clrMapOvr>
</p:sld>
</file>

<file path=ppt/theme/theme1.xml><?xml version="1.0" encoding="utf-8"?>
<a:theme xmlns:a="http://schemas.openxmlformats.org/drawingml/2006/main" name="VeniceBeachVTI">
  <a:themeElements>
    <a:clrScheme name="VeniceBeachVTI">
      <a:dk1>
        <a:sysClr val="windowText" lastClr="000000"/>
      </a:dk1>
      <a:lt1>
        <a:sysClr val="window" lastClr="FFFFFF"/>
      </a:lt1>
      <a:dk2>
        <a:srgbClr val="2B3E3D"/>
      </a:dk2>
      <a:lt2>
        <a:srgbClr val="FEF3EB"/>
      </a:lt2>
      <a:accent1>
        <a:srgbClr val="FE8542"/>
      </a:accent1>
      <a:accent2>
        <a:srgbClr val="EC6D60"/>
      </a:accent2>
      <a:accent3>
        <a:srgbClr val="CDA32B"/>
      </a:accent3>
      <a:accent4>
        <a:srgbClr val="EE66A7"/>
      </a:accent4>
      <a:accent5>
        <a:srgbClr val="EA5F48"/>
      </a:accent5>
      <a:accent6>
        <a:srgbClr val="C8466B"/>
      </a:accent6>
      <a:hlink>
        <a:srgbClr val="E46153"/>
      </a:hlink>
      <a:folHlink>
        <a:srgbClr val="CF63B0"/>
      </a:folHlink>
    </a:clrScheme>
    <a:fontScheme name="VeniceBeachVTI">
      <a:majorFont>
        <a:latin typeface="Avenir Next LT Pro Light"/>
        <a:ea typeface=""/>
        <a:cs typeface=""/>
      </a:majorFont>
      <a:minorFont>
        <a:latin typeface="Avenir Next LT Pro"/>
        <a:ea typeface=""/>
        <a:cs typeface=""/>
      </a:minorFont>
    </a:fontScheme>
    <a:fmtScheme name="VeniceBeach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eniceBeachVTI" id="{54706E44-6516-4822-8F8F-6BA182D64AC9}" vid="{F71BAAD1-41E5-4D56-97E1-12A04B86E57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21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2" baseType="lpstr">
      <vt:lpstr>VeniceBeachVTI</vt:lpstr>
      <vt:lpstr>Presentazione standard di PowerPoint</vt:lpstr>
      <vt:lpstr>Auto Elettriche ed Ibride</vt:lpstr>
      <vt:lpstr>Presentazione standard di PowerPoint</vt:lpstr>
      <vt:lpstr>Situazione Europea</vt:lpstr>
      <vt:lpstr>Nuove Immatricolazioni per tipo di Motorizzazione</vt:lpstr>
      <vt:lpstr>Immatricolazioni 2015-2024</vt:lpstr>
      <vt:lpstr>Immatricolazioni 2015-2024</vt:lpstr>
      <vt:lpstr>Immatricolazioni phev - 2024</vt:lpstr>
      <vt:lpstr>Immatricolazioni 2018-2024</vt:lpstr>
      <vt:lpstr>Perché il dato è in calo?</vt:lpstr>
      <vt:lpstr>Aumentano ma non abbastanza?</vt:lpstr>
      <vt:lpstr>Numero di colonnine in Europa</vt:lpstr>
      <vt:lpstr>La situazione in Italia - bev</vt:lpstr>
      <vt:lpstr>La situazione in Italia – phev</vt:lpstr>
      <vt:lpstr>CRESCITA PERCENTUALE PHEV VS BEV</vt:lpstr>
      <vt:lpstr>TREND dI CRESCITA AUTO CIRCOLANTI PHEV VS BEV</vt:lpstr>
      <vt:lpstr>Leggi e incentivi in italia</vt:lpstr>
      <vt:lpstr>Confronto Nord Centro Sud</vt:lpstr>
      <vt:lpstr>Confronto regionale</vt:lpstr>
      <vt:lpstr>Evoluzione colonnine di ricarica in italia</vt:lpstr>
      <vt:lpstr>GRAZIE PER L'ATTENZIONE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40</cp:revision>
  <dcterms:created xsi:type="dcterms:W3CDTF">2026-03-02T15:13:13Z</dcterms:created>
  <dcterms:modified xsi:type="dcterms:W3CDTF">2026-03-24T13:44:46Z</dcterms:modified>
</cp:coreProperties>
</file>